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 The Continent of God. I'm Jim, and I want to say it again the way I say it every single week: the Bible is not a pond, it is a continent. And most Christians — good, sincere, church-going Christians — never leave the beach. They wade in ankle-deep, get a little wet, and go home.
[PAUSE]
Not us. Not today. Today we get off the beach. This is Genesis, Lesson 2, Part B — Fall. And this is the map.
Here's our main idea, and I want you to write this down: Beginnings — God creates, mankind falls, and grace begins its long march toward a Redeemer — and Fall is the place God makes it unmistakable.
That is the trail we are walking today. So grab your Bible, grab a pen, and let's take one more step into the interior.
[PRAY] Father, get us off the beach. Open the Book and open our hearts, and lead us all the way to Your Son. In Jesus' name, 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read a word, you have to know where you are standing on the map. The whole story of God runs in one line: Creation and Fall, then Abraham and the Promise, then the Exodus and the Law, then Kings and the Temple, then Exile and Return, then Jesus fulfills it all, then the Church and the Spirit, and finally the New Creation.
Right here — Creation / Fall — that's where we are. That's the "you are here" pin on the map.
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
Don't miss this: you cannot understand what God is saying until you know who He was saying it to and what He was doing in that moment. Get the THEN right, and the TODAY and the TOMORROW will land with full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5:1-3. Follow along in the King James as I read.
Verse 1: "This is the book of the generations of Adam. In the day that God created man, in the likeness of God made he him;" Verse 2: "Male and female created he them; and blessed them, and called their name Adam, in the day when they were created." Verse 3: "And Adam lived an hundred and thirty years, and begat a son in his own likeness, after his image; and called his name Seth:"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5:4-5. Follow along in the King James as I read.
Verse 4: "And the days of Adam after he had begotten Seth were eight hundred years: and he begat sons and daughters:" Verse 5: "And all the days that Adam lived were nine hundred and thirty years: and he died."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5:6-8. Follow along in the King James as I read.
Verse 6: "And Seth lived an hundred and five years, and begat Enos:" Verse 7: "And Seth lived after he begat Enos eight hundred and seven years, and begat sons and daughters:" Verse 8: "And all the days of Seth were nine hundred and twelve years: and he died."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5:9-10. Follow along in the King James as I read.
Verse 9: "And Enos lived ninety years, and begat Cainan:" Verse 10: "And Enos lived after he begat Cainan eight hundred and fifteen years, and begat sons and daughters:"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5:11-13. Follow along in the King James as I read.
Verse 11: "And all the days of Enos were nine hundred and five years: and he died." Verse 12: "And Cainan lived seventy years, and begat Mahalaleel:" Verse 13: "And Cainan lived after he begat Mahalaleel eight hundred and forty years, and begat sons and daughters:"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5:14-15. Follow along in the King James as I read.
Verse 14: "And all the days of Cainan were nine hundred and ten years: and he died." Verse 15: "And Mahalaleel lived sixty and five years, and begat Jared:"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5:16-18. Follow along in the King James as I read.
Verse 16: "And Mahalaleel lived after he begat Jared eight hundred and thirty years, and begat sons and daughters:" Verse 17: "And all the days of Mahalaleel were eight hundred ninety and five years: and he died." Verse 18: "And Jared lived an hundred sixty and two years, and he begat Enoch:"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5:19-20. Follow along in the King James as I read.
Verse 19: "And Jared lived after he begat Enoch eight hundred years, and begat sons and daughters:" Verse 20: "And all the days of Jared were nine hundred sixty and two years: and he died."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5:21-23. Follow along in the King James as I read.
Verse 21: "And Enoch lived sixty and five years, and begat Methuselah:" Verse 22: "And Enoch walked with God after he begat Methuselah three hundred years, and begat sons and daughters:" Verse 23: "And all the days of Enoch were three hundred sixty and five years:"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5:24-25. Follow along in the King James as I read.
Verse 24: "And Enoch walked with God: and he was not; for God took him." Verse 25: "And Methuselah lived an hundred eighty and seven years, and begat Lamech:"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5:26-28. Follow along in the King James as I read.
Verse 26: "And Methuselah lived after he begat Lamech seven hundred eighty and two years, and begat sons and daughters:" Verse 27: "And all the days of Methuselah were nine hundred sixty and nine years: and he died." Verse 28: "And Lamech lived an hundred eighty and two years, and begat a son:"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5:29-30. Follow along in the King James as I read.
Verse 29: "And he called his name Noah, saying, This same shall comfort us concerning our work and toil of our hands, because of the ground which the LORD hath cursed." Verse 30: "And Lamech lived after he begat Noah five hundred ninety and five years, and begat sons and daughters:"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5:31-32. Follow along in the King James as I read.
Verse 31: "And all the days of Lamech were seven hundred seventy and seven years: and he died." Verse 32: "And Noah was five hundred years old: and Noah begat Shem, Ham, and Japheth."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down and do a little Bible triage on the facts. THEN — the who, the what, and the when.
WHO. Genesis comes to us through Moses, written to the redeemed nation of Israel at the edge of the Promised Land. Real people, real place, real pressure.
WHAT. The heartbeat of this book is one thing: beginnings — God creates, mankind falls, and grace begins its long march toward a Redeemer. Everything in Genesis 5:1-32 serves that one argument.
WHEN. We are looking at roughly c. 1446-1406 BC. Hold that date in your mind — it keeps us honest and keeps the text in its own world before we drag it into ours.
Write this down: context is not optional. It is the floor we stand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observe. Before we apply anything, we have to actually see what is on the page. So let's walk the trail slowly.
Observation 1. THE TEXT ITSELF: Read Genesis 5:1-32 slowly. Notice God is the acting subject — He initiates before anyone responds. Write this down: grace always moves first.
Observation 2. STRUCTURE: This passage is built with intention, not accident. Mark the repeated words and the turning point — the Holy Spirit underlines what matters most.
Observation 3. Leaders of the conservative movement note that Genesis must be read in its covenant context, not lifted out as isolated proverbs. The whole book argues one case: beginnings — God creates, mankind falls, and grace begins its long march toward a Redeemer.
Observation 4. Conservative scholars observe that the original audience — the redeemed nation of Israel at the edge of the Promised Land — heard this as a word for their crisis, not a timeless abstraction. Get the THEN right and the TODAY lands true.
Observation 5. Watch the contrast between human failure and divine faithfulness. The people stumble; God does not.
Observation 6. Look at what God is doing here: He is not merely correcting behavior, He is forming a people for His own glory.
Observation 7. Here's the thing — this passage refuses to leave you neutral. It diagnoses the heart and then offers the only cure.
Observation 8. Every detail is a step off the beach and into the interior. This is the map: beginnings — God creates, mankind falls, and grace begins its long march toward a Redeemer.
Do you see it? This is what I mean by getting off the beach. The treasure was never in the shallows. It is right here in the details of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was THEN. Now TODAY. Because if all we do is learn ancient history, we have missed the whole point. This Book reads us.
FALLEN CONDITION FOCUS: This passage exposes our tendency to settle on the beach of easy religion when God is calling us into the deep.
So let's get personal. Four questions — and don't answer the easy way.
Question 1. Where in fall do you see your own heart described — not someone else's?
Question 2. What does this passage say is true about God that, if you really believed it on Monday morning, would change how you live?
Question 3. Be specific: name one place this week where you have been living as if this text were not true.
Question 4. What would repentance actually look like here — not in theory, but in your calendar, your wallet, your words?
[PAUSE] Sit in that. Don't rush past the discomfort. That discomfort is the Surgeon's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 PROCLAMATION: Who in your life needs to hear what Genesis Fall reveals about God, and what is keeping you from telling them this week?
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
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grounded us. TODAY cut us. Now TOMORROW lifts us — because every trail on this continent leads to one summit, and His name is Jesus.
THE PROMISE OPENED. Genesis does not stand alone. It is a thread in one tapestry, and the tapestry is Christ. What is begun here strains forward toward the One who fulfills it.
THE NEED EXPOSED. This passage shows us a gap no human effort can close — between a holy God and an unholy people. That gap is the silhouette of a cross. The diagnosis here is precisely the wound the gospel heals.
THE SHADOW AND THE SUBSTANCE. Conservative scholars observe that the patterns here — covenant, sacrifice, kingship, deliverance — are shadows cast backward by Jesus. See the shadow, then look up and find the One casting it.
THE SUMMIT. Every trail leads to the same summit. Fall lifts our eyes from history, through our own hearts, to the risen Christ who reigns now and is coming again.
Don't miss this: the Old shadows and the New light are one story. This is the map, and the map ends at an empty tomb.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seal it with the memory verse. Hide this one in your heart: "This is the book of the generations of Adam. In the day that God created man, in the likeness of God made he him;" — that's Genesis 5:1.
Here is the whole trail in three sentences. THEN: Moses delivered Fall to the redeemed nation of Israel at the edge of the Promised Land around c. 1446-1406 BC. TODAY: It exposes our hearts and calls us off the beach into real repentance and trust. TOMORROW: And it points, like every passage, straight to the risen Christ.
[PRAY] Father, thank You for taking us off the beach today. Write this word on our hearts. Make us doers and not hearers only, and let everything we have seen drive us deeper into Jesus, in whose name we pray, amen.
That's Lesson done. Keep walking. The interior is wide, and the King is good. I'll see you on the next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320040"/>
            <a:ext cx="8229600" cy="365760"/>
          </a:xfrm>
          <a:prstGeom prst="rect">
            <a:avLst/>
          </a:prstGeom>
          <a:noFill/>
          <a:ln/>
        </p:spPr>
        <p:txBody>
          <a:bodyPr wrap="square" rtlCol="0" anchor="ctr"/>
          <a:lstStyle/>
          <a:p>
            <a:pPr indent="0" marL="0">
              <a:buNone/>
            </a:pPr>
            <a:r>
              <a:rPr lang="en-US" sz="1300" b="1" spc="200" kern="0" dirty="0">
                <a:solidFill>
                  <a:srgbClr val="B89442"/>
                </a:solidFill>
                <a:latin typeface="Calibri" pitchFamily="34" charset="0"/>
                <a:ea typeface="Calibri" pitchFamily="34" charset="-122"/>
                <a:cs typeface="Calibri" pitchFamily="34" charset="-120"/>
              </a:rPr>
              <a:t>GENESIS BIBLE STUDY · LESSON 2 · PART B</a:t>
            </a:r>
            <a:endParaRPr lang="en-US" sz="1300" dirty="0"/>
          </a:p>
        </p:txBody>
      </p:sp>
      <p:sp>
        <p:nvSpPr>
          <p:cNvPr id="5" name="Text 3"/>
          <p:cNvSpPr/>
          <p:nvPr/>
        </p:nvSpPr>
        <p:spPr>
          <a:xfrm>
            <a:off x="457200" y="777240"/>
            <a:ext cx="8229600" cy="1097280"/>
          </a:xfrm>
          <a:prstGeom prst="rect">
            <a:avLst/>
          </a:prstGeom>
          <a:noFill/>
          <a:ln/>
        </p:spPr>
        <p:txBody>
          <a:bodyPr wrap="square" rtlCol="0" anchor="ctr"/>
          <a:lstStyle/>
          <a:p>
            <a:pPr indent="0" marL="0">
              <a:buNone/>
            </a:pPr>
            <a:r>
              <a:rPr lang="en-US" sz="4800" b="1" dirty="0">
                <a:solidFill>
                  <a:srgbClr val="F0E6CC"/>
                </a:solidFill>
                <a:latin typeface="Georgia" pitchFamily="34" charset="0"/>
                <a:ea typeface="Georgia" pitchFamily="34" charset="-122"/>
                <a:cs typeface="Georgia" pitchFamily="34" charset="-120"/>
              </a:rPr>
              <a:t>Fall</a:t>
            </a:r>
            <a:endParaRPr lang="en-US" sz="4800" dirty="0"/>
          </a:p>
        </p:txBody>
      </p:sp>
      <p:sp>
        <p:nvSpPr>
          <p:cNvPr id="6" name="Text 4"/>
          <p:cNvSpPr/>
          <p:nvPr/>
        </p:nvSpPr>
        <p:spPr>
          <a:xfrm>
            <a:off x="457200" y="1874520"/>
            <a:ext cx="8229600" cy="365760"/>
          </a:xfrm>
          <a:prstGeom prst="rect">
            <a:avLst/>
          </a:prstGeom>
          <a:noFill/>
          <a:ln/>
        </p:spPr>
        <p:txBody>
          <a:bodyPr wrap="square" rtlCol="0" anchor="ctr"/>
          <a:lstStyle/>
          <a:p>
            <a:pPr indent="0" marL="0">
              <a:buNone/>
            </a:pPr>
            <a:r>
              <a:rPr lang="en-US" sz="1800" i="1" dirty="0">
                <a:solidFill>
                  <a:srgbClr val="B89442"/>
                </a:solidFill>
                <a:latin typeface="Georgia" pitchFamily="34" charset="0"/>
                <a:ea typeface="Georgia" pitchFamily="34" charset="-122"/>
                <a:cs typeface="Georgia" pitchFamily="34" charset="-120"/>
              </a:rPr>
              <a:t>Genesis 5:1-32</a:t>
            </a:r>
            <a:endParaRPr lang="en-US" sz="1800" dirty="0"/>
          </a:p>
        </p:txBody>
      </p:sp>
      <p:sp>
        <p:nvSpPr>
          <p:cNvPr id="7" name="Shape 5"/>
          <p:cNvSpPr/>
          <p:nvPr/>
        </p:nvSpPr>
        <p:spPr>
          <a:xfrm>
            <a:off x="457200" y="2423160"/>
            <a:ext cx="8229600" cy="1371600"/>
          </a:xfrm>
          <a:prstGeom prst="roundRect">
            <a:avLst>
              <a:gd name="adj" fmla="val 4000"/>
            </a:avLst>
          </a:prstGeom>
          <a:solidFill>
            <a:srgbClr val="1D2B1F"/>
          </a:solidFill>
          <a:ln w="12700">
            <a:solidFill>
              <a:srgbClr val="B89442"/>
            </a:solidFill>
            <a:prstDash val="solid"/>
          </a:ln>
        </p:spPr>
      </p:sp>
      <p:sp>
        <p:nvSpPr>
          <p:cNvPr id="8" name="Text 6"/>
          <p:cNvSpPr/>
          <p:nvPr/>
        </p:nvSpPr>
        <p:spPr>
          <a:xfrm>
            <a:off x="685800" y="2514600"/>
            <a:ext cx="7772400" cy="1188720"/>
          </a:xfrm>
          <a:prstGeom prst="rect">
            <a:avLst/>
          </a:prstGeom>
          <a:noFill/>
          <a:ln/>
        </p:spPr>
        <p:txBody>
          <a:bodyPr wrap="square" rtlCol="0" anchor="ctr"/>
          <a:lstStyle/>
          <a:p>
            <a:pPr algn="ctr" indent="0" marL="0">
              <a:buNone/>
            </a:pPr>
            <a:r>
              <a:rPr lang="en-US" sz="1800" dirty="0">
                <a:solidFill>
                  <a:srgbClr val="F0E6CC"/>
                </a:solidFill>
                <a:latin typeface="Calibri" pitchFamily="34" charset="0"/>
                <a:ea typeface="Calibri" pitchFamily="34" charset="-122"/>
                <a:cs typeface="Calibri" pitchFamily="34" charset="-120"/>
              </a:rPr>
              <a:t>Beginnings — God creates, mankind falls, and grace begins its long march toward a Redeemer — and Fall is the place God makes it unmistakable.</a:t>
            </a:r>
            <a:endParaRPr lang="en-US" sz="1800" dirty="0"/>
          </a:p>
        </p:txBody>
      </p:sp>
      <p:sp>
        <p:nvSpPr>
          <p:cNvPr id="9" name="Text 7"/>
          <p:cNvSpPr/>
          <p:nvPr/>
        </p:nvSpPr>
        <p:spPr>
          <a:xfrm>
            <a:off x="457200" y="3977640"/>
            <a:ext cx="8229600" cy="365760"/>
          </a:xfrm>
          <a:prstGeom prst="rect">
            <a:avLst/>
          </a:prstGeom>
          <a:noFill/>
          <a:ln/>
        </p:spPr>
        <p:txBody>
          <a:bodyPr wrap="square" rtlCol="0" anchor="ctr"/>
          <a:lstStyle/>
          <a:p>
            <a:pPr indent="0" marL="0">
              <a:buNone/>
            </a:pPr>
            <a:r>
              <a:rPr lang="en-US" sz="1100" i="1" dirty="0">
                <a:solidFill>
                  <a:srgbClr val="F0E6CC"/>
                </a:solidFill>
                <a:latin typeface="Calibri" pitchFamily="34" charset="0"/>
                <a:ea typeface="Calibri" pitchFamily="34" charset="-122"/>
                <a:cs typeface="Calibri" pitchFamily="34" charset="-120"/>
              </a:rPr>
              <a:t>Memory Verse: Genesis 5:1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F0E6CC"/>
                </a:solidFill>
                <a:latin typeface="Georgia" pitchFamily="34" charset="0"/>
                <a:ea typeface="Georgia" pitchFamily="34" charset="-122"/>
                <a:cs typeface="Georgia" pitchFamily="34" charset="-120"/>
              </a:rPr>
              <a:t>God's Story — The Timeline</a:t>
            </a:r>
            <a:endParaRPr lang="en-US" sz="2600" dirty="0"/>
          </a:p>
        </p:txBody>
      </p:sp>
      <p:sp>
        <p:nvSpPr>
          <p:cNvPr id="5" name="Shape 3"/>
          <p:cNvSpPr/>
          <p:nvPr/>
        </p:nvSpPr>
        <p:spPr>
          <a:xfrm>
            <a:off x="493776" y="1051560"/>
            <a:ext cx="955548" cy="777240"/>
          </a:xfrm>
          <a:prstGeom prst="roundRect">
            <a:avLst>
              <a:gd name="adj" fmla="val 7059"/>
            </a:avLst>
          </a:prstGeom>
          <a:solidFill>
            <a:srgbClr val="B89442"/>
          </a:solidFill>
          <a:ln w="12700">
            <a:solidFill>
              <a:srgbClr val="B89442"/>
            </a:solidFill>
            <a:prstDash val="solid"/>
          </a:ln>
        </p:spPr>
      </p:sp>
      <p:sp>
        <p:nvSpPr>
          <p:cNvPr id="6" name="Text 4"/>
          <p:cNvSpPr/>
          <p:nvPr/>
        </p:nvSpPr>
        <p:spPr>
          <a:xfrm>
            <a:off x="493776" y="1051560"/>
            <a:ext cx="955548" cy="777240"/>
          </a:xfrm>
          <a:prstGeom prst="rect">
            <a:avLst/>
          </a:prstGeom>
          <a:noFill/>
          <a:ln/>
        </p:spPr>
        <p:txBody>
          <a:bodyPr wrap="square" rtlCol="0" anchor="ctr"/>
          <a:lstStyle/>
          <a:p>
            <a:pPr algn="ctr" indent="0" marL="0">
              <a:buNone/>
            </a:pPr>
            <a:r>
              <a:rPr lang="en-US" sz="850" b="1" dirty="0">
                <a:solidFill>
                  <a:srgbClr val="F0E6CC"/>
                </a:solidFill>
                <a:latin typeface="Calibri" pitchFamily="34" charset="0"/>
                <a:ea typeface="Calibri" pitchFamily="34" charset="-122"/>
                <a:cs typeface="Calibri" pitchFamily="34" charset="-120"/>
              </a:rPr>
              <a:t>Creation / Fall</a:t>
            </a:r>
            <a:endParaRPr lang="en-US" sz="850" dirty="0"/>
          </a:p>
        </p:txBody>
      </p:sp>
      <p:sp>
        <p:nvSpPr>
          <p:cNvPr id="7" name="Text 5"/>
          <p:cNvSpPr/>
          <p:nvPr/>
        </p:nvSpPr>
        <p:spPr>
          <a:xfrm>
            <a:off x="274320" y="1847088"/>
            <a:ext cx="1394460" cy="274320"/>
          </a:xfrm>
          <a:prstGeom prst="rect">
            <a:avLst/>
          </a:prstGeom>
          <a:noFill/>
          <a:ln/>
        </p:spPr>
        <p:txBody>
          <a:bodyPr wrap="square" rtlCol="0" anchor="ctr"/>
          <a:lstStyle/>
          <a:p>
            <a:pPr algn="ctr" indent="0" marL="0">
              <a:buNone/>
            </a:pPr>
            <a:r>
              <a:rPr lang="en-US" sz="900" b="1" dirty="0">
                <a:solidFill>
                  <a:srgbClr val="B89442"/>
                </a:solidFill>
                <a:latin typeface="Calibri" pitchFamily="34" charset="0"/>
                <a:ea typeface="Calibri" pitchFamily="34" charset="-122"/>
                <a:cs typeface="Calibri" pitchFamily="34" charset="-120"/>
              </a:rPr>
              <a:t>▲ WE ARE HERE</a:t>
            </a:r>
            <a:endParaRPr lang="en-US" sz="900" dirty="0"/>
          </a:p>
        </p:txBody>
      </p:sp>
      <p:sp>
        <p:nvSpPr>
          <p:cNvPr id="8" name="Shape 6"/>
          <p:cNvSpPr/>
          <p:nvPr/>
        </p:nvSpPr>
        <p:spPr>
          <a:xfrm>
            <a:off x="1522476" y="1051560"/>
            <a:ext cx="955548" cy="777240"/>
          </a:xfrm>
          <a:prstGeom prst="roundRect">
            <a:avLst>
              <a:gd name="adj" fmla="val 7059"/>
            </a:avLst>
          </a:prstGeom>
          <a:solidFill>
            <a:srgbClr val="1D2B1F"/>
          </a:solidFill>
          <a:ln w="12700">
            <a:solidFill>
              <a:srgbClr val="B89442"/>
            </a:solidFill>
            <a:prstDash val="solid"/>
          </a:ln>
        </p:spPr>
      </p:sp>
      <p:sp>
        <p:nvSpPr>
          <p:cNvPr id="9" name="Text 7"/>
          <p:cNvSpPr/>
          <p:nvPr/>
        </p:nvSpPr>
        <p:spPr>
          <a:xfrm>
            <a:off x="15224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Abraham / Promise</a:t>
            </a:r>
            <a:endParaRPr lang="en-US" sz="850" dirty="0"/>
          </a:p>
        </p:txBody>
      </p:sp>
      <p:sp>
        <p:nvSpPr>
          <p:cNvPr id="10" name="Shape 8"/>
          <p:cNvSpPr/>
          <p:nvPr/>
        </p:nvSpPr>
        <p:spPr>
          <a:xfrm>
            <a:off x="2551176" y="1051560"/>
            <a:ext cx="955548" cy="777240"/>
          </a:xfrm>
          <a:prstGeom prst="roundRect">
            <a:avLst>
              <a:gd name="adj" fmla="val 7059"/>
            </a:avLst>
          </a:prstGeom>
          <a:solidFill>
            <a:srgbClr val="1D2B1F"/>
          </a:solidFill>
          <a:ln w="12700">
            <a:solidFill>
              <a:srgbClr val="B89442"/>
            </a:solidFill>
            <a:prstDash val="solid"/>
          </a:ln>
        </p:spPr>
      </p:sp>
      <p:sp>
        <p:nvSpPr>
          <p:cNvPr id="11" name="Text 9"/>
          <p:cNvSpPr/>
          <p:nvPr/>
        </p:nvSpPr>
        <p:spPr>
          <a:xfrm>
            <a:off x="25511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Exodus / Law</a:t>
            </a:r>
            <a:endParaRPr lang="en-US" sz="850" dirty="0"/>
          </a:p>
        </p:txBody>
      </p:sp>
      <p:sp>
        <p:nvSpPr>
          <p:cNvPr id="12" name="Shape 10"/>
          <p:cNvSpPr/>
          <p:nvPr/>
        </p:nvSpPr>
        <p:spPr>
          <a:xfrm>
            <a:off x="3579876" y="1051560"/>
            <a:ext cx="955548" cy="777240"/>
          </a:xfrm>
          <a:prstGeom prst="roundRect">
            <a:avLst>
              <a:gd name="adj" fmla="val 7059"/>
            </a:avLst>
          </a:prstGeom>
          <a:solidFill>
            <a:srgbClr val="1D2B1F"/>
          </a:solidFill>
          <a:ln w="12700">
            <a:solidFill>
              <a:srgbClr val="B89442"/>
            </a:solidFill>
            <a:prstDash val="solid"/>
          </a:ln>
        </p:spPr>
      </p:sp>
      <p:sp>
        <p:nvSpPr>
          <p:cNvPr id="13" name="Text 11"/>
          <p:cNvSpPr/>
          <p:nvPr/>
        </p:nvSpPr>
        <p:spPr>
          <a:xfrm>
            <a:off x="35798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Kings / Temple</a:t>
            </a:r>
            <a:endParaRPr lang="en-US" sz="850" dirty="0"/>
          </a:p>
        </p:txBody>
      </p:sp>
      <p:sp>
        <p:nvSpPr>
          <p:cNvPr id="14" name="Shape 12"/>
          <p:cNvSpPr/>
          <p:nvPr/>
        </p:nvSpPr>
        <p:spPr>
          <a:xfrm>
            <a:off x="4608576" y="1051560"/>
            <a:ext cx="955548" cy="777240"/>
          </a:xfrm>
          <a:prstGeom prst="roundRect">
            <a:avLst>
              <a:gd name="adj" fmla="val 7059"/>
            </a:avLst>
          </a:prstGeom>
          <a:solidFill>
            <a:srgbClr val="1D2B1F"/>
          </a:solidFill>
          <a:ln w="12700">
            <a:solidFill>
              <a:srgbClr val="B89442"/>
            </a:solidFill>
            <a:prstDash val="solid"/>
          </a:ln>
        </p:spPr>
      </p:sp>
      <p:sp>
        <p:nvSpPr>
          <p:cNvPr id="15" name="Text 13"/>
          <p:cNvSpPr/>
          <p:nvPr/>
        </p:nvSpPr>
        <p:spPr>
          <a:xfrm>
            <a:off x="46085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Exile / Return</a:t>
            </a:r>
            <a:endParaRPr lang="en-US" sz="850" dirty="0"/>
          </a:p>
        </p:txBody>
      </p:sp>
      <p:sp>
        <p:nvSpPr>
          <p:cNvPr id="16" name="Shape 14"/>
          <p:cNvSpPr/>
          <p:nvPr/>
        </p:nvSpPr>
        <p:spPr>
          <a:xfrm>
            <a:off x="5637276" y="1051560"/>
            <a:ext cx="955548" cy="777240"/>
          </a:xfrm>
          <a:prstGeom prst="roundRect">
            <a:avLst>
              <a:gd name="adj" fmla="val 7059"/>
            </a:avLst>
          </a:prstGeom>
          <a:solidFill>
            <a:srgbClr val="1D2B1F"/>
          </a:solidFill>
          <a:ln w="12700">
            <a:solidFill>
              <a:srgbClr val="B89442"/>
            </a:solidFill>
            <a:prstDash val="solid"/>
          </a:ln>
        </p:spPr>
      </p:sp>
      <p:sp>
        <p:nvSpPr>
          <p:cNvPr id="17" name="Text 15"/>
          <p:cNvSpPr/>
          <p:nvPr/>
        </p:nvSpPr>
        <p:spPr>
          <a:xfrm>
            <a:off x="56372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Jesus Fulfills</a:t>
            </a:r>
            <a:endParaRPr lang="en-US" sz="850" dirty="0"/>
          </a:p>
        </p:txBody>
      </p:sp>
      <p:sp>
        <p:nvSpPr>
          <p:cNvPr id="18" name="Shape 16"/>
          <p:cNvSpPr/>
          <p:nvPr/>
        </p:nvSpPr>
        <p:spPr>
          <a:xfrm>
            <a:off x="6665976" y="1051560"/>
            <a:ext cx="955548" cy="777240"/>
          </a:xfrm>
          <a:prstGeom prst="roundRect">
            <a:avLst>
              <a:gd name="adj" fmla="val 7059"/>
            </a:avLst>
          </a:prstGeom>
          <a:solidFill>
            <a:srgbClr val="1D2B1F"/>
          </a:solidFill>
          <a:ln w="12700">
            <a:solidFill>
              <a:srgbClr val="B89442"/>
            </a:solidFill>
            <a:prstDash val="solid"/>
          </a:ln>
        </p:spPr>
      </p:sp>
      <p:sp>
        <p:nvSpPr>
          <p:cNvPr id="19" name="Text 17"/>
          <p:cNvSpPr/>
          <p:nvPr/>
        </p:nvSpPr>
        <p:spPr>
          <a:xfrm>
            <a:off x="66659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Church / Spirit</a:t>
            </a:r>
            <a:endParaRPr lang="en-US" sz="850" dirty="0"/>
          </a:p>
        </p:txBody>
      </p:sp>
      <p:sp>
        <p:nvSpPr>
          <p:cNvPr id="20" name="Shape 18"/>
          <p:cNvSpPr/>
          <p:nvPr/>
        </p:nvSpPr>
        <p:spPr>
          <a:xfrm>
            <a:off x="7694676" y="1051560"/>
            <a:ext cx="955548" cy="777240"/>
          </a:xfrm>
          <a:prstGeom prst="roundRect">
            <a:avLst>
              <a:gd name="adj" fmla="val 7059"/>
            </a:avLst>
          </a:prstGeom>
          <a:solidFill>
            <a:srgbClr val="1D2B1F"/>
          </a:solidFill>
          <a:ln w="12700">
            <a:solidFill>
              <a:srgbClr val="B89442"/>
            </a:solidFill>
            <a:prstDash val="solid"/>
          </a:ln>
        </p:spPr>
      </p:sp>
      <p:sp>
        <p:nvSpPr>
          <p:cNvPr id="21" name="Text 19"/>
          <p:cNvSpPr/>
          <p:nvPr/>
        </p:nvSpPr>
        <p:spPr>
          <a:xfrm>
            <a:off x="76946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New Creation</a:t>
            </a:r>
            <a:endParaRPr lang="en-US" sz="850" dirty="0"/>
          </a:p>
        </p:txBody>
      </p:sp>
      <p:sp>
        <p:nvSpPr>
          <p:cNvPr id="22" name="Shape 20"/>
          <p:cNvSpPr/>
          <p:nvPr/>
        </p:nvSpPr>
        <p:spPr>
          <a:xfrm>
            <a:off x="457200" y="2377440"/>
            <a:ext cx="8229600" cy="2194560"/>
          </a:xfrm>
          <a:prstGeom prst="roundRect">
            <a:avLst>
              <a:gd name="adj" fmla="val 2500"/>
            </a:avLst>
          </a:prstGeom>
          <a:solidFill>
            <a:srgbClr val="1D2B1F"/>
          </a:solidFill>
          <a:ln w="12700">
            <a:solidFill>
              <a:srgbClr val="1D2B1F"/>
            </a:solidFill>
            <a:prstDash val="solid"/>
          </a:ln>
        </p:spPr>
      </p:sp>
      <p:sp>
        <p:nvSpPr>
          <p:cNvPr id="23" name="Text 21"/>
          <p:cNvSpPr/>
          <p:nvPr/>
        </p:nvSpPr>
        <p:spPr>
          <a:xfrm>
            <a:off x="685800" y="2514600"/>
            <a:ext cx="7772400" cy="1920240"/>
          </a:xfrm>
          <a:prstGeom prst="rect">
            <a:avLst/>
          </a:prstGeom>
          <a:noFill/>
          <a:ln/>
        </p:spPr>
        <p:txBody>
          <a:bodyPr wrap="square" rtlCol="0" anchor="t"/>
          <a:lstStyle/>
          <a:p>
            <a:pPr indent="0" marL="0">
              <a:buNone/>
            </a:pPr>
            <a:r>
              <a:rPr lang="en-US" sz="1400" dirty="0">
                <a:solidFill>
                  <a:srgbClr val="F0E6CC"/>
                </a:solidFill>
                <a:latin typeface="Calibri" pitchFamily="34" charset="0"/>
                <a:ea typeface="Calibri" pitchFamily="34" charset="-122"/>
                <a:cs typeface="Calibri" pitchFamily="34" charset="-120"/>
              </a:rPr>
              <a:t>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This is the book of the generations of Adam. In the day that God created man, in the likeness of God made he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Male and female created he them; and blessed them, and called their name Adam, in the day when they were created.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Adam lived an hundred and thirty years, and begat a son in his own likeness, after his image; and called his name Seth: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5:4-5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days of Adam after he had begotten Seth were eight hundred years: and he begat sons and daughters: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all the days that Adam lived were nine hundred and thirty years: and he died.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5:6-8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Seth lived an hundred and five years, and begat Enos: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Seth lived after he begat Enos eight hundred and seven years, and begat sons and daughters: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all the days of Seth were nine hundred and twelve years: and he died.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5:9-10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Enos lived ninety years, and begat Cainan: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Enos lived after he begat Cainan eight hundred and fifteen years, and begat sons and daughters: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5:11-13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all the days of Enos were nine hundred and five years: and he died.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Cainan lived seventy years, and begat Mahalaleel: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Cainan lived after he begat Mahalaleel eight hundred and forty years, and begat sons and daughters: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5:14-15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all the days of Cainan were nine hundred and ten years: and he died.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Mahalaleel lived sixty and five years, and begat Jared: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5:16-18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Mahalaleel lived after he begat Jared eight hundred and thirty years, and begat sons and daughters: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all the days of Mahalaleel were eight hundred ninety and five years: and he died.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Jared lived an hundred sixty and two years, and he begat Enoch: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5:19-20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Jared lived after he begat Enoch eight hundred years, and begat sons and daughters: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all the days of Jared were nine hundred sixty and two years: and he died.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5:21-23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Enoch lived sixty and five years, and begat Methuselah: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Enoch walked with God after he begat Methuselah three hundred years, and begat sons and daughters: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all the days of Enoch were three hundred sixty and five years: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5:24-25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Enoch walked with God: and he was not; for God took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Methuselah lived an hundred eighty and seven years, and begat Lamech: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5:26-28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Methuselah lived after he begat Lamech seven hundred eighty and two years, and begat sons and daughters: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all the days of Methuselah were nine hundred sixty and nine years: and he died.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Lamech lived an hundred eighty and two years, and begat a son: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5:29-30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called his name Noah, saying, This same shall comfort us concerning our work and toil of our hands, because of the ground which the LORD hath cursed.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Lamech lived after he begat Noah five hundred ninety and five years, and begat sons and daughters: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5:31-32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all the days of Lamech were seven hundred seventy and seven years: and he died.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Noah was five hundred years old: and Noah begat Shem, Ham, and Japheth.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WHO / WHAT / WHEN</a:t>
            </a:r>
            <a:endParaRPr lang="en-US" sz="2200" dirty="0"/>
          </a:p>
        </p:txBody>
      </p:sp>
      <p:sp>
        <p:nvSpPr>
          <p:cNvPr id="5" name="Shape 3"/>
          <p:cNvSpPr/>
          <p:nvPr/>
        </p:nvSpPr>
        <p:spPr>
          <a:xfrm>
            <a:off x="457200" y="914400"/>
            <a:ext cx="2679192" cy="2194560"/>
          </a:xfrm>
          <a:prstGeom prst="roundRect">
            <a:avLst>
              <a:gd name="adj" fmla="val 2500"/>
            </a:avLst>
          </a:prstGeom>
          <a:solidFill>
            <a:srgbClr val="1D2B1F"/>
          </a:solidFill>
          <a:ln w="12700">
            <a:solidFill>
              <a:srgbClr val="B89442"/>
            </a:solidFill>
            <a:prstDash val="solid"/>
          </a:ln>
        </p:spPr>
      </p:sp>
      <p:sp>
        <p:nvSpPr>
          <p:cNvPr id="6" name="Text 4"/>
          <p:cNvSpPr/>
          <p:nvPr/>
        </p:nvSpPr>
        <p:spPr>
          <a:xfrm>
            <a:off x="457200"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WHO</a:t>
            </a:r>
            <a:endParaRPr lang="en-US" sz="1500" dirty="0"/>
          </a:p>
        </p:txBody>
      </p:sp>
      <p:sp>
        <p:nvSpPr>
          <p:cNvPr id="7" name="Text 5"/>
          <p:cNvSpPr/>
          <p:nvPr/>
        </p:nvSpPr>
        <p:spPr>
          <a:xfrm>
            <a:off x="594360"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Author: Moses</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Audience: the redeemed nation of Israel at the edge of the Promised Land</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people emerge through the narrative of Fall.</a:t>
            </a:r>
            <a:endParaRPr lang="en-US" sz="1050" dirty="0"/>
          </a:p>
        </p:txBody>
      </p:sp>
      <p:sp>
        <p:nvSpPr>
          <p:cNvPr id="8" name="Shape 6"/>
          <p:cNvSpPr/>
          <p:nvPr/>
        </p:nvSpPr>
        <p:spPr>
          <a:xfrm>
            <a:off x="3209544" y="914400"/>
            <a:ext cx="2679192" cy="2194560"/>
          </a:xfrm>
          <a:prstGeom prst="roundRect">
            <a:avLst>
              <a:gd name="adj" fmla="val 2500"/>
            </a:avLst>
          </a:prstGeom>
          <a:solidFill>
            <a:srgbClr val="1D2B1F"/>
          </a:solidFill>
          <a:ln w="12700">
            <a:solidFill>
              <a:srgbClr val="B89442"/>
            </a:solidFill>
            <a:prstDash val="solid"/>
          </a:ln>
        </p:spPr>
      </p:sp>
      <p:sp>
        <p:nvSpPr>
          <p:cNvPr id="9" name="Text 7"/>
          <p:cNvSpPr/>
          <p:nvPr/>
        </p:nvSpPr>
        <p:spPr>
          <a:xfrm>
            <a:off x="3209544"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WHAT</a:t>
            </a:r>
            <a:endParaRPr lang="en-US" sz="1500" dirty="0"/>
          </a:p>
        </p:txBody>
      </p:sp>
      <p:sp>
        <p:nvSpPr>
          <p:cNvPr id="10" name="Text 8"/>
          <p:cNvSpPr/>
          <p:nvPr/>
        </p:nvSpPr>
        <p:spPr>
          <a:xfrm>
            <a:off x="3346704"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Key theme: Beginnings — God creates, mankind falls, and grace begins its long march toward a Redeemer.</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structure: Genesis 5:1-32.</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doctrine: the character and saving purpose of God.</a:t>
            </a:r>
            <a:endParaRPr lang="en-US" sz="1050" dirty="0"/>
          </a:p>
        </p:txBody>
      </p:sp>
      <p:sp>
        <p:nvSpPr>
          <p:cNvPr id="11" name="Shape 9"/>
          <p:cNvSpPr/>
          <p:nvPr/>
        </p:nvSpPr>
        <p:spPr>
          <a:xfrm>
            <a:off x="5961888" y="914400"/>
            <a:ext cx="2679192" cy="2194560"/>
          </a:xfrm>
          <a:prstGeom prst="roundRect">
            <a:avLst>
              <a:gd name="adj" fmla="val 2500"/>
            </a:avLst>
          </a:prstGeom>
          <a:solidFill>
            <a:srgbClr val="1D2B1F"/>
          </a:solidFill>
          <a:ln w="12700">
            <a:solidFill>
              <a:srgbClr val="B89442"/>
            </a:solidFill>
            <a:prstDash val="solid"/>
          </a:ln>
        </p:spPr>
      </p:sp>
      <p:sp>
        <p:nvSpPr>
          <p:cNvPr id="12" name="Text 10"/>
          <p:cNvSpPr/>
          <p:nvPr/>
        </p:nvSpPr>
        <p:spPr>
          <a:xfrm>
            <a:off x="5961888"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WHEN</a:t>
            </a:r>
            <a:endParaRPr lang="en-US" sz="1500" dirty="0"/>
          </a:p>
        </p:txBody>
      </p:sp>
      <p:sp>
        <p:nvSpPr>
          <p:cNvPr id="13" name="Text 11"/>
          <p:cNvSpPr/>
          <p:nvPr/>
        </p:nvSpPr>
        <p:spPr>
          <a:xfrm>
            <a:off x="6099048"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Date: c. 1446-1406 BC.</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Stage: Creation / Fall.</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Context: the redeemed nation of Israel at the edge of the Promised Land.</a:t>
            </a:r>
            <a:endParaRPr lang="en-US" sz="1050" dirty="0"/>
          </a:p>
        </p:txBody>
      </p:sp>
      <p:sp>
        <p:nvSpPr>
          <p:cNvPr id="14" name="Shape 12"/>
          <p:cNvSpPr/>
          <p:nvPr/>
        </p:nvSpPr>
        <p:spPr>
          <a:xfrm>
            <a:off x="457200" y="3246120"/>
            <a:ext cx="8229600" cy="1417320"/>
          </a:xfrm>
          <a:prstGeom prst="roundRect">
            <a:avLst>
              <a:gd name="adj" fmla="val 3871"/>
            </a:avLst>
          </a:prstGeom>
          <a:solidFill>
            <a:srgbClr val="29372B"/>
          </a:solidFill>
          <a:ln w="12700">
            <a:solidFill>
              <a:srgbClr val="29372B"/>
            </a:solidFill>
            <a:prstDash val="solid"/>
          </a:ln>
        </p:spPr>
      </p:sp>
      <p:sp>
        <p:nvSpPr>
          <p:cNvPr id="15" name="Text 13"/>
          <p:cNvSpPr/>
          <p:nvPr/>
        </p:nvSpPr>
        <p:spPr>
          <a:xfrm>
            <a:off x="640080" y="3310128"/>
            <a:ext cx="7863840" cy="1298448"/>
          </a:xfrm>
          <a:prstGeom prst="rect">
            <a:avLst/>
          </a:prstGeom>
          <a:noFill/>
          <a:ln/>
        </p:spPr>
        <p:txBody>
          <a:bodyPr wrap="square" rtlCol="0" anchor="t"/>
          <a:lstStyle/>
          <a:p>
            <a:pPr indent="0" marL="0">
              <a:lnSpc>
                <a:spcPct val="100000"/>
              </a:lnSpc>
              <a:buNone/>
            </a:pPr>
            <a:r>
              <a:rPr lang="en-US" sz="850" b="1" dirty="0">
                <a:solidFill>
                  <a:srgbClr val="B89442"/>
                </a:solidFill>
                <a:latin typeface="Calibri" pitchFamily="34" charset="0"/>
                <a:ea typeface="Calibri" pitchFamily="34" charset="-122"/>
                <a:cs typeface="Calibri" pitchFamily="34" charset="-120"/>
              </a:rPr>
              <a:t>BIBLE TRIAGE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BLACK TAG — Primary: The character and authority of God revealed here is non-negotiable. Beginnings — God creates, mankind falls, and grace begins its long march toward a Redeemer stands on who God is. Die on this hill.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RED TAG — Secondary: How a local church orders its life around this truth (worship, leadership, practice) is worth careful conviction, but it shapes church family rather than salvation.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YELLOW/GREEN TAG — Tertiary: Timing details, cultural specifics, and disputed minor points here are worth exploring with an open hand. Study them; don't divide over them.</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OBSERVE</a:t>
            </a:r>
            <a:endParaRPr lang="en-US" sz="2200" dirty="0"/>
          </a:p>
        </p:txBody>
      </p:sp>
      <p:sp>
        <p:nvSpPr>
          <p:cNvPr id="5" name="Shape 3"/>
          <p:cNvSpPr/>
          <p:nvPr/>
        </p:nvSpPr>
        <p:spPr>
          <a:xfrm>
            <a:off x="457200" y="868680"/>
            <a:ext cx="8229600" cy="3749040"/>
          </a:xfrm>
          <a:prstGeom prst="roundRect">
            <a:avLst>
              <a:gd name="adj" fmla="val 1463"/>
            </a:avLst>
          </a:prstGeom>
          <a:solidFill>
            <a:srgbClr val="1D2B1F"/>
          </a:solidFill>
          <a:ln w="12700">
            <a:solidFill>
              <a:srgbClr val="1D2B1F"/>
            </a:solidFill>
            <a:prstDash val="solid"/>
          </a:ln>
        </p:spPr>
      </p:sp>
      <p:sp>
        <p:nvSpPr>
          <p:cNvPr id="6" name="Text 4"/>
          <p:cNvSpPr/>
          <p:nvPr/>
        </p:nvSpPr>
        <p:spPr>
          <a:xfrm>
            <a:off x="731520" y="960120"/>
            <a:ext cx="7680960" cy="3566160"/>
          </a:xfrm>
          <a:prstGeom prst="rect">
            <a:avLst/>
          </a:prstGeom>
          <a:noFill/>
          <a:ln/>
        </p:spPr>
        <p:txBody>
          <a:bodyPr wrap="square" rtlCol="0" anchor="t"/>
          <a:lstStyle/>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THE TEXT ITSELF: Read Genesis 5:1-32 slowly. Notice God is the acting subject — He initiates before anyone responds. Write this down: grace always moves first.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STRUCTURE: This passage is built with intention, not accident. Mark the repeated words and the turning point — the Holy Spirit underlines what matters most.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Leaders of the conservative movement note that Genesis must be read in its covenant context, not lifted out as isolated proverbs. The whole book argues one case: beginnings — God creates, mankind falls, and grace begins its long march toward a Redeemer.</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Conservative scholars observe that the original audience — the redeemed nation of Israel at the edge of the Promised Land — heard this as a word for their crisis, not a timeless abstraction. Get the THEN right and the TODAY lands true.</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Watch the contrast between human failure and divine faithfulness. The people stumble; God does not. [LINK: John 1:1-3]</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Look at what God is doing here: He is not merely correcting behavior, He is forming a people for His own glory. [LINK: Romans 5:12-21]</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Here's the thing — this passage refuses to leave you neutral. It diagnoses the heart and then offers the only cure. [LINK: Galatians 3:16]</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Every detail is a step off the beach and into the interior. This is the map: beginnings — God creates, mankind falls, and grace begins its long march toward a Redeemer.</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DIAGNOSIS (Q1-Q4)</a:t>
            </a:r>
            <a:endParaRPr lang="en-US" sz="2200" dirty="0"/>
          </a:p>
        </p:txBody>
      </p:sp>
      <p:sp>
        <p:nvSpPr>
          <p:cNvPr id="5" name="Shape 3"/>
          <p:cNvSpPr/>
          <p:nvPr/>
        </p:nvSpPr>
        <p:spPr>
          <a:xfrm>
            <a:off x="457200" y="868680"/>
            <a:ext cx="8229600" cy="1051560"/>
          </a:xfrm>
          <a:prstGeom prst="roundRect">
            <a:avLst>
              <a:gd name="adj" fmla="val 5217"/>
            </a:avLst>
          </a:prstGeom>
          <a:solidFill>
            <a:srgbClr val="29372B"/>
          </a:solidFill>
          <a:ln w="12700">
            <a:solidFill>
              <a:srgbClr val="B89442"/>
            </a:solidFill>
            <a:prstDash val="solid"/>
          </a:ln>
        </p:spPr>
      </p:sp>
      <p:sp>
        <p:nvSpPr>
          <p:cNvPr id="6" name="Text 4"/>
          <p:cNvSpPr/>
          <p:nvPr/>
        </p:nvSpPr>
        <p:spPr>
          <a:xfrm>
            <a:off x="685800" y="932688"/>
            <a:ext cx="7772400" cy="914400"/>
          </a:xfrm>
          <a:prstGeom prst="rect">
            <a:avLst/>
          </a:prstGeom>
          <a:noFill/>
          <a:ln/>
        </p:spPr>
        <p:txBody>
          <a:bodyPr wrap="square" rtlCol="0" anchor="ctr"/>
          <a:lstStyle/>
          <a:p>
            <a:pPr indent="0" marL="0">
              <a:buNone/>
            </a:pPr>
            <a:r>
              <a:rPr lang="en-US" sz="1200" b="1" dirty="0">
                <a:solidFill>
                  <a:srgbClr val="F0E6CC"/>
                </a:solidFill>
                <a:latin typeface="Calibri" pitchFamily="34" charset="0"/>
                <a:ea typeface="Calibri" pitchFamily="34" charset="-122"/>
                <a:cs typeface="Calibri" pitchFamily="34" charset="-120"/>
              </a:rPr>
              <a:t>FALLEN CONDITION FOCUS: This passage exposes our tendency to settle on the beach of easy religion when God is calling us into the deep.</a:t>
            </a:r>
            <a:endParaRPr lang="en-US" sz="1200" dirty="0"/>
          </a:p>
        </p:txBody>
      </p:sp>
      <p:sp>
        <p:nvSpPr>
          <p:cNvPr id="7" name="Shape 5"/>
          <p:cNvSpPr/>
          <p:nvPr/>
        </p:nvSpPr>
        <p:spPr>
          <a:xfrm>
            <a:off x="457200" y="2057400"/>
            <a:ext cx="8229600" cy="2560320"/>
          </a:xfrm>
          <a:prstGeom prst="roundRect">
            <a:avLst>
              <a:gd name="adj" fmla="val 2143"/>
            </a:avLst>
          </a:prstGeom>
          <a:solidFill>
            <a:srgbClr val="1D2B1F"/>
          </a:solidFill>
          <a:ln w="12700">
            <a:solidFill>
              <a:srgbClr val="1D2B1F"/>
            </a:solidFill>
            <a:prstDash val="solid"/>
          </a:ln>
        </p:spPr>
      </p:sp>
      <p:sp>
        <p:nvSpPr>
          <p:cNvPr id="8" name="Text 6"/>
          <p:cNvSpPr/>
          <p:nvPr/>
        </p:nvSpPr>
        <p:spPr>
          <a:xfrm>
            <a:off x="731520" y="2194560"/>
            <a:ext cx="7680960" cy="2286000"/>
          </a:xfrm>
          <a:prstGeom prst="rect">
            <a:avLst/>
          </a:prstGeom>
          <a:noFill/>
          <a:ln/>
        </p:spPr>
        <p:txBody>
          <a:bodyPr wrap="square" rtlCol="0" anchor="t"/>
          <a:lstStyle/>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Q1. Where in fall do you see your own heart described — not someone else's?</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Q2. What does this passage say is true about God that, if you really believed it on Monday morning, would change how you live?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Q3. Be specific: name one place this week where you have been living as if this text were not true.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Q4. What would repentance actually look like here — not in theory, but in your calendar, your wallet, your words?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Q5 + CHALLENGE</a:t>
            </a:r>
            <a:endParaRPr lang="en-US" sz="2200" dirty="0"/>
          </a:p>
        </p:txBody>
      </p:sp>
      <p:sp>
        <p:nvSpPr>
          <p:cNvPr id="5" name="Shape 3"/>
          <p:cNvSpPr/>
          <p:nvPr/>
        </p:nvSpPr>
        <p:spPr>
          <a:xfrm>
            <a:off x="457200" y="868680"/>
            <a:ext cx="8229600" cy="914400"/>
          </a:xfrm>
          <a:prstGeom prst="roundRect">
            <a:avLst>
              <a:gd name="adj" fmla="val 6000"/>
            </a:avLst>
          </a:prstGeom>
          <a:solidFill>
            <a:srgbClr val="29372B"/>
          </a:solidFill>
          <a:ln w="12700">
            <a:solidFill>
              <a:srgbClr val="B89442"/>
            </a:solidFill>
            <a:prstDash val="solid"/>
          </a:ln>
        </p:spPr>
      </p:sp>
      <p:sp>
        <p:nvSpPr>
          <p:cNvPr id="6" name="Text 4"/>
          <p:cNvSpPr/>
          <p:nvPr/>
        </p:nvSpPr>
        <p:spPr>
          <a:xfrm>
            <a:off x="685800" y="914400"/>
            <a:ext cx="7772400" cy="822960"/>
          </a:xfrm>
          <a:prstGeom prst="rect">
            <a:avLst/>
          </a:prstGeom>
          <a:noFill/>
          <a:ln/>
        </p:spPr>
        <p:txBody>
          <a:bodyPr wrap="square" rtlCol="0" anchor="ctr"/>
          <a:lstStyle/>
          <a:p>
            <a:pPr indent="0" marL="0">
              <a:buNone/>
            </a:pPr>
            <a:r>
              <a:rPr lang="en-US" sz="1250" b="1" dirty="0">
                <a:solidFill>
                  <a:srgbClr val="F0E6CC"/>
                </a:solidFill>
                <a:latin typeface="Calibri" pitchFamily="34" charset="0"/>
                <a:ea typeface="Calibri" pitchFamily="34" charset="-122"/>
                <a:cs typeface="Calibri" pitchFamily="34" charset="-120"/>
              </a:rPr>
              <a:t>Q5 — PROCLAMATION: Who in your life needs to hear what Genesis Fall reveals about God, and what is keeping you from telling them this week?</a:t>
            </a:r>
            <a:endParaRPr lang="en-US" sz="1250" dirty="0"/>
          </a:p>
        </p:txBody>
      </p:sp>
      <p:sp>
        <p:nvSpPr>
          <p:cNvPr id="7" name="Text 5"/>
          <p:cNvSpPr/>
          <p:nvPr/>
        </p:nvSpPr>
        <p:spPr>
          <a:xfrm>
            <a:off x="548640" y="1874520"/>
            <a:ext cx="8046720" cy="91440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a:t>
            </a:r>
            <a:endParaRPr lang="en-US" sz="1150" dirty="0"/>
          </a:p>
        </p:txBody>
      </p:sp>
      <p:sp>
        <p:nvSpPr>
          <p:cNvPr id="8" name="Shape 6"/>
          <p:cNvSpPr/>
          <p:nvPr/>
        </p:nvSpPr>
        <p:spPr>
          <a:xfrm>
            <a:off x="457200" y="2880360"/>
            <a:ext cx="8229600" cy="1737360"/>
          </a:xfrm>
          <a:prstGeom prst="roundRect">
            <a:avLst>
              <a:gd name="adj" fmla="val 3158"/>
            </a:avLst>
          </a:prstGeom>
          <a:solidFill>
            <a:srgbClr val="1D2B1F"/>
          </a:solidFill>
          <a:ln w="12700">
            <a:solidFill>
              <a:srgbClr val="B89442"/>
            </a:solidFill>
            <a:prstDash val="solid"/>
          </a:ln>
        </p:spPr>
      </p:sp>
      <p:sp>
        <p:nvSpPr>
          <p:cNvPr id="9" name="Text 7"/>
          <p:cNvSpPr/>
          <p:nvPr/>
        </p:nvSpPr>
        <p:spPr>
          <a:xfrm>
            <a:off x="685800" y="2971800"/>
            <a:ext cx="7772400" cy="155448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TOMORROW · THE GOSPEL THREAD</a:t>
            </a:r>
            <a:endParaRPr lang="en-US" sz="2200" dirty="0"/>
          </a:p>
        </p:txBody>
      </p:sp>
      <p:sp>
        <p:nvSpPr>
          <p:cNvPr id="5" name="Shape 3"/>
          <p:cNvSpPr/>
          <p:nvPr/>
        </p:nvSpPr>
        <p:spPr>
          <a:xfrm>
            <a:off x="457200" y="914400"/>
            <a:ext cx="4023360" cy="1463040"/>
          </a:xfrm>
          <a:prstGeom prst="roundRect">
            <a:avLst>
              <a:gd name="adj" fmla="val 3750"/>
            </a:avLst>
          </a:prstGeom>
          <a:solidFill>
            <a:srgbClr val="1D2B1F"/>
          </a:solidFill>
          <a:ln w="12700">
            <a:solidFill>
              <a:srgbClr val="B89442"/>
            </a:solidFill>
            <a:prstDash val="solid"/>
          </a:ln>
        </p:spPr>
      </p:sp>
      <p:sp>
        <p:nvSpPr>
          <p:cNvPr id="6" name="Text 4"/>
          <p:cNvSpPr/>
          <p:nvPr/>
        </p:nvSpPr>
        <p:spPr>
          <a:xfrm>
            <a:off x="59436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PROMISE OPENED
</a:t>
            </a:r>
            <a:pPr indent="0" marL="0">
              <a:buNone/>
            </a:pPr>
            <a:r>
              <a:rPr lang="en-US" sz="1000" dirty="0">
                <a:solidFill>
                  <a:srgbClr val="F0E6CC"/>
                </a:solidFill>
                <a:latin typeface="Calibri" pitchFamily="34" charset="0"/>
                <a:ea typeface="Calibri" pitchFamily="34" charset="-122"/>
                <a:cs typeface="Calibri" pitchFamily="34" charset="-120"/>
              </a:rPr>
              <a:t>Genesis does not stand alone. It is a thread in one tapestry, and the tapestry is Christ. What is begun here strains forward toward the One who fulfills it. [LINK: John 1:1-3]</a:t>
            </a:r>
            <a:endParaRPr lang="en-US" sz="1200" dirty="0"/>
          </a:p>
        </p:txBody>
      </p:sp>
      <p:sp>
        <p:nvSpPr>
          <p:cNvPr id="7" name="Shape 5"/>
          <p:cNvSpPr/>
          <p:nvPr/>
        </p:nvSpPr>
        <p:spPr>
          <a:xfrm>
            <a:off x="4663440" y="914400"/>
            <a:ext cx="4023360" cy="1463040"/>
          </a:xfrm>
          <a:prstGeom prst="roundRect">
            <a:avLst>
              <a:gd name="adj" fmla="val 3750"/>
            </a:avLst>
          </a:prstGeom>
          <a:solidFill>
            <a:srgbClr val="1D2B1F"/>
          </a:solidFill>
          <a:ln w="12700">
            <a:solidFill>
              <a:srgbClr val="B89442"/>
            </a:solidFill>
            <a:prstDash val="solid"/>
          </a:ln>
        </p:spPr>
      </p:sp>
      <p:sp>
        <p:nvSpPr>
          <p:cNvPr id="8" name="Text 6"/>
          <p:cNvSpPr/>
          <p:nvPr/>
        </p:nvSpPr>
        <p:spPr>
          <a:xfrm>
            <a:off x="480060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NEED EXPOSED
</a:t>
            </a:r>
            <a:pPr indent="0" marL="0">
              <a:buNone/>
            </a:pPr>
            <a:r>
              <a:rPr lang="en-US" sz="1000" dirty="0">
                <a:solidFill>
                  <a:srgbClr val="F0E6CC"/>
                </a:solidFill>
                <a:latin typeface="Calibri" pitchFamily="34" charset="0"/>
                <a:ea typeface="Calibri" pitchFamily="34" charset="-122"/>
                <a:cs typeface="Calibri" pitchFamily="34" charset="-120"/>
              </a:rPr>
              <a:t>This passage shows us a gap no human effort can close — between a holy God and an unholy people. That gap is the silhouette of a cross. The diagnosis here is precisely the wound the gospel heals.</a:t>
            </a:r>
            <a:endParaRPr lang="en-US" sz="1200" dirty="0"/>
          </a:p>
        </p:txBody>
      </p:sp>
      <p:sp>
        <p:nvSpPr>
          <p:cNvPr id="9" name="Shape 7"/>
          <p:cNvSpPr/>
          <p:nvPr/>
        </p:nvSpPr>
        <p:spPr>
          <a:xfrm>
            <a:off x="457200" y="2514600"/>
            <a:ext cx="4023360" cy="1463040"/>
          </a:xfrm>
          <a:prstGeom prst="roundRect">
            <a:avLst>
              <a:gd name="adj" fmla="val 3750"/>
            </a:avLst>
          </a:prstGeom>
          <a:solidFill>
            <a:srgbClr val="1D2B1F"/>
          </a:solidFill>
          <a:ln w="12700">
            <a:solidFill>
              <a:srgbClr val="B89442"/>
            </a:solidFill>
            <a:prstDash val="solid"/>
          </a:ln>
        </p:spPr>
      </p:sp>
      <p:sp>
        <p:nvSpPr>
          <p:cNvPr id="10" name="Text 8"/>
          <p:cNvSpPr/>
          <p:nvPr/>
        </p:nvSpPr>
        <p:spPr>
          <a:xfrm>
            <a:off x="59436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SHADOW AND THE SUBSTANCE
</a:t>
            </a:r>
            <a:pPr indent="0" marL="0">
              <a:buNone/>
            </a:pPr>
            <a:r>
              <a:rPr lang="en-US" sz="1000" dirty="0">
                <a:solidFill>
                  <a:srgbClr val="F0E6CC"/>
                </a:solidFill>
                <a:latin typeface="Calibri" pitchFamily="34" charset="0"/>
                <a:ea typeface="Calibri" pitchFamily="34" charset="-122"/>
                <a:cs typeface="Calibri" pitchFamily="34" charset="-120"/>
              </a:rPr>
              <a:t>Conservative scholars observe that the patterns here — covenant, sacrifice, kingship, deliverance — are shadows cast backward by Jesus. See the shadow, then look up and find the One casting it. [LINK: Romans 5:12-21]</a:t>
            </a:r>
            <a:endParaRPr lang="en-US" sz="1200" dirty="0"/>
          </a:p>
        </p:txBody>
      </p:sp>
      <p:sp>
        <p:nvSpPr>
          <p:cNvPr id="11" name="Shape 9"/>
          <p:cNvSpPr/>
          <p:nvPr/>
        </p:nvSpPr>
        <p:spPr>
          <a:xfrm>
            <a:off x="4663440" y="2514600"/>
            <a:ext cx="4023360" cy="1463040"/>
          </a:xfrm>
          <a:prstGeom prst="roundRect">
            <a:avLst>
              <a:gd name="adj" fmla="val 3750"/>
            </a:avLst>
          </a:prstGeom>
          <a:solidFill>
            <a:srgbClr val="1D2B1F"/>
          </a:solidFill>
          <a:ln w="12700">
            <a:solidFill>
              <a:srgbClr val="B89442"/>
            </a:solidFill>
            <a:prstDash val="solid"/>
          </a:ln>
        </p:spPr>
      </p:sp>
      <p:sp>
        <p:nvSpPr>
          <p:cNvPr id="12" name="Text 10"/>
          <p:cNvSpPr/>
          <p:nvPr/>
        </p:nvSpPr>
        <p:spPr>
          <a:xfrm>
            <a:off x="480060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SUMMIT
</a:t>
            </a:r>
            <a:pPr indent="0" marL="0">
              <a:buNone/>
            </a:pPr>
            <a:r>
              <a:rPr lang="en-US" sz="1000" dirty="0">
                <a:solidFill>
                  <a:srgbClr val="F0E6CC"/>
                </a:solidFill>
                <a:latin typeface="Calibri" pitchFamily="34" charset="0"/>
                <a:ea typeface="Calibri" pitchFamily="34" charset="-122"/>
                <a:cs typeface="Calibri" pitchFamily="34" charset="-120"/>
              </a:rPr>
              <a:t>Every trail leads to the same summit. Fall lifts our eyes from history, through our own hearts, to the risen Christ who reigns now and is coming again. [LINK: Galatians 3:16]</a:t>
            </a:r>
            <a:endParaRPr lang="en-US" sz="1200" dirty="0"/>
          </a:p>
        </p:txBody>
      </p:sp>
      <p:sp>
        <p:nvSpPr>
          <p:cNvPr id="13" name="Text 11"/>
          <p:cNvSpPr/>
          <p:nvPr/>
        </p:nvSpPr>
        <p:spPr>
          <a:xfrm>
            <a:off x="457200" y="4251960"/>
            <a:ext cx="8229600" cy="365760"/>
          </a:xfrm>
          <a:prstGeom prst="rect">
            <a:avLst/>
          </a:prstGeom>
          <a:noFill/>
          <a:ln/>
        </p:spPr>
        <p:txBody>
          <a:bodyPr wrap="square" rtlCol="0" anchor="ctr"/>
          <a:lstStyle/>
          <a:p>
            <a:pPr indent="0" marL="0">
              <a:buNone/>
            </a:pPr>
            <a:r>
              <a:rPr lang="en-US" sz="900" i="1" dirty="0">
                <a:solidFill>
                  <a:srgbClr val="B89442"/>
                </a:solidFill>
                <a:latin typeface="Calibri" pitchFamily="34" charset="0"/>
                <a:ea typeface="Calibri" pitchFamily="34" charset="-122"/>
                <a:cs typeface="Calibri" pitchFamily="34" charset="-120"/>
              </a:rPr>
              <a:t>Cross-references: [LINK: John 1:1-3]  [LINK: Romans 5:12-21]  [LINK: Galatians 3:16]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1800" b="1" spc="200" kern="0" dirty="0">
                <a:solidFill>
                  <a:srgbClr val="B89442"/>
                </a:solidFill>
                <a:latin typeface="Calibri" pitchFamily="34" charset="0"/>
                <a:ea typeface="Calibri" pitchFamily="34" charset="-122"/>
                <a:cs typeface="Calibri" pitchFamily="34" charset="-120"/>
              </a:rPr>
              <a:t>MEMORY VERSE</a:t>
            </a:r>
            <a:endParaRPr lang="en-US" sz="1800" dirty="0"/>
          </a:p>
        </p:txBody>
      </p:sp>
      <p:sp>
        <p:nvSpPr>
          <p:cNvPr id="5" name="Shape 3"/>
          <p:cNvSpPr/>
          <p:nvPr/>
        </p:nvSpPr>
        <p:spPr>
          <a:xfrm>
            <a:off x="457200" y="822960"/>
            <a:ext cx="8229600" cy="1828800"/>
          </a:xfrm>
          <a:prstGeom prst="roundRect">
            <a:avLst>
              <a:gd name="adj" fmla="val 3000"/>
            </a:avLst>
          </a:prstGeom>
          <a:solidFill>
            <a:srgbClr val="1D2B1F"/>
          </a:solidFill>
          <a:ln w="12700">
            <a:solidFill>
              <a:srgbClr val="B89442"/>
            </a:solidFill>
            <a:prstDash val="solid"/>
          </a:ln>
        </p:spPr>
      </p:sp>
      <p:sp>
        <p:nvSpPr>
          <p:cNvPr id="6" name="Text 4"/>
          <p:cNvSpPr/>
          <p:nvPr/>
        </p:nvSpPr>
        <p:spPr>
          <a:xfrm>
            <a:off x="731520" y="914400"/>
            <a:ext cx="7680960" cy="1371600"/>
          </a:xfrm>
          <a:prstGeom prst="rect">
            <a:avLst/>
          </a:prstGeom>
          <a:noFill/>
          <a:ln/>
        </p:spPr>
        <p:txBody>
          <a:bodyPr wrap="square" rtlCol="0" anchor="ctr"/>
          <a:lstStyle/>
          <a:p>
            <a:pPr algn="ctr" indent="0" marL="0">
              <a:buNone/>
            </a:pPr>
            <a:r>
              <a:rPr lang="en-US" sz="1800" i="1" dirty="0">
                <a:solidFill>
                  <a:srgbClr val="F0E6CC"/>
                </a:solidFill>
                <a:latin typeface="Georgia" pitchFamily="34" charset="0"/>
                <a:ea typeface="Georgia" pitchFamily="34" charset="-122"/>
                <a:cs typeface="Georgia" pitchFamily="34" charset="-120"/>
              </a:rPr>
              <a:t>"This is the book of the generations of Adam. In the day that God created man, in the likeness of God made he him;"</a:t>
            </a:r>
            <a:endParaRPr lang="en-US" sz="1800" dirty="0"/>
          </a:p>
        </p:txBody>
      </p:sp>
      <p:sp>
        <p:nvSpPr>
          <p:cNvPr id="7" name="Text 5"/>
          <p:cNvSpPr/>
          <p:nvPr/>
        </p:nvSpPr>
        <p:spPr>
          <a:xfrm>
            <a:off x="731520" y="2240280"/>
            <a:ext cx="7680960" cy="320040"/>
          </a:xfrm>
          <a:prstGeom prst="rect">
            <a:avLst/>
          </a:prstGeom>
          <a:noFill/>
          <a:ln/>
        </p:spPr>
        <p:txBody>
          <a:bodyPr wrap="square" rtlCol="0" anchor="ctr"/>
          <a:lstStyle/>
          <a:p>
            <a:pPr algn="ctr" indent="0" marL="0">
              <a:buNone/>
            </a:pPr>
            <a:r>
              <a:rPr lang="en-US" sz="1300" b="1" dirty="0">
                <a:solidFill>
                  <a:srgbClr val="B89442"/>
                </a:solidFill>
                <a:latin typeface="Calibri" pitchFamily="34" charset="0"/>
                <a:ea typeface="Calibri" pitchFamily="34" charset="-122"/>
                <a:cs typeface="Calibri" pitchFamily="34" charset="-120"/>
              </a:rPr>
              <a:t>— Genesis 5:1</a:t>
            </a:r>
            <a:endParaRPr lang="en-US" sz="1300" dirty="0"/>
          </a:p>
        </p:txBody>
      </p:sp>
      <p:sp>
        <p:nvSpPr>
          <p:cNvPr id="8" name="Text 6"/>
          <p:cNvSpPr/>
          <p:nvPr/>
        </p:nvSpPr>
        <p:spPr>
          <a:xfrm>
            <a:off x="548640" y="2788920"/>
            <a:ext cx="8046720" cy="1737360"/>
          </a:xfrm>
          <a:prstGeom prst="rect">
            <a:avLst/>
          </a:prstGeom>
          <a:noFill/>
          <a:ln/>
        </p:spPr>
        <p:txBody>
          <a:bodyPr wrap="square" rtlCol="0" anchor="t"/>
          <a:lstStyle/>
          <a:p>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THEN: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Moses delivered Fall to the redeemed nation of Israel at the edge of the Promised Land around c. 1446-1406 BC.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TODAY: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It exposes our hearts and calls us off the beach into real repentance and trust.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TOMORROW: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And it points, like every passage, straight to the risen Christ.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NetPraise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Fall</dc:title>
  <dc:subject>Genesis 5:1-32</dc:subject>
  <dc:creator>Jim Yarborough — The Continent of God · NetPraise</dc:creator>
  <cp:lastModifiedBy>Jim Yarborough — The Continent of God · NetPraise</cp:lastModifiedBy>
  <cp:revision>1</cp:revision>
  <dcterms:created xsi:type="dcterms:W3CDTF">2026-05-27T16:12:51Z</dcterms:created>
  <dcterms:modified xsi:type="dcterms:W3CDTF">2026-05-27T16:12:51Z</dcterms:modified>
</cp:coreProperties>
</file>