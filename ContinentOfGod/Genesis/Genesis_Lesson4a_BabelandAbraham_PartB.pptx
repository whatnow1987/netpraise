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The Continent of God. I'm Jim, and I want to say it again the way I say it every single week: the Bible is not a pond, it is a continent. And most Christians — good, sincere, church-going Christians — never leave the beach. They wade in ankle-deep, get a little wet, and go home.
[PAUSE]
Not us. Not today. Today we get off the beach. This is Genesis, Lesson 4a, Part B — Babel &amp; Abraham. And this is the map.
Here's our main idea, and I want you to write this down: Beginnings — God creates, mankind falls, and grace begins its long march toward a Redeemer — and Babel &amp; Abraham is the place God makes it unmistakable.
That is the trail we are walking today. So grab your Bible, grab a pen, and let's take one more step into the interior.
[PRAY] Father, get us off the beach. Open the Book and open our hearts, and lead us all the way to Your Son. In Jesus' name, 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read a word, you have to know where you are standing on the map. The whole story of God runs in one line: Creation and Fall, then Abraham and the Promise, then the Exodus and the Law, then Kings and the Temple, then Exile and Return, then Jesus fulfills it all, then the Church and the Spirit, and finally the New Creation.
Right here — Abraham / Promise — that's where we are. That's the "you are here" pin on the map.
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
Don't miss this: you cannot understand what God is saying until you know who He was saying it to and what He was doing in that moment. Get the THEN right, and the TODAY and the TOMORROW will land with full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19:1-7. Follow along in the King James as I read.
Verse 1: "And there came two angels to Sodom at even; and Lot sat in the gate of Sodom: and Lot seeing them rose up to meet them; and he bowed himself with his face toward the ground;" Verse 4: "But before they lay down, the men of the city, even the men of Sodom, compassed the house round, both old and young, all the people from every quarter:" Verse 7: "And said, I pray you, brethren, do not so wickedly."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19:10-14. Follow along in the King James as I read.
Verse 10: "But the men put forth their hand, and pulled Lot into the house to them, and shut to the door." Verse 14: "And Lot went out, and spake unto his sons in law, which married his daughters, and said, Up, get you out of this place; for the LORD will destroy this city. But he seemed as one that mocked unto his sons in law."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19:17-24. Follow along in the King James as I read.
Verse 17: "And it came to pass, when they had brought them forth abroad, that he said, Escape for thy life; look not behind thee, neither stay thou in all the plain; escape to the mountain, lest thou be consumed." Verse 20: "Behold now, this city is near to flee unto, and it is a little one: Oh, let me escape thither, (is it not a little one?) and my soul shall live." Verse 24: "Then the LORD rained upon Sodom and upon Gomorrah brimstone and fire from the LORD out of heaven;"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19:27-30. Follow along in the King James as I read.
Verse 27: "And Abraham gat up early in the morning to the place where he stood before the LORD:" Verse 30: "And Lot went up out of Zoar, and dwelt in the mountain, and his two daughters with him; for he feared to dwell in Zoar: and he dwelt in a cave, he and his two daughters."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19:34-20:2. Follow along in the King James as I read.
Verse 34: "And it came to pass on the morrow, that the firstborn said unto the younger, Behold, I lay yesternight with my father: let us make him drink wine this night also; and go thou in, and lie with him, that we may preserve seed of our father." Verse 37: "And the first born bare a son, and called his name Moab: the same is the father of the Moabites unto this day." Verse 2: "And Abraham said of Sarah his wife, She is my sister: and Abimelech king of Gerar sent, and took Sarah."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20:6-9. Follow along in the King James as I read.
Verse 6: "And God said unto him in a dream, Yea, I know that thou didst this in the integrity of thy heart; for I also withheld thee from sinning against me: therefore suffered I thee not to touch her." Verse 9: "Then Abimelech called Abraham, and said unto him, What hast thou done unto us? and what have I offended thee, that thou hast brought on me and on my kingdom a great sin? thou hast done deeds unto me that ought not to be done."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20:12-21:1. Follow along in the King James as I read.
Verse 12: "And yet indeed she is my sister; she is the daughter of my father, but not the daughter of my mother; and she became my wife." Verse 16: "And unto Sarah he said, Behold, I have given thy brother a thousand pieces of silver: behold, he is to thee a covering of the eyes, unto all that are with thee, and with all other: thus she was reproved." Verse 1: "And the LORD visited Sarah as he had said, and the LORD did unto Sarah as he had spoken."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21:4-8. Follow along in the King James as I read.
Verse 4: "And Abraham circumcised his son Isaac being eight days old, as God had commanded him." Verse 8: "And the child grew, and was weaned: and Abraham made a great feast the same day that Isaac was weaned."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21:11-18. Follow along in the King James as I read.
Verse 11: "And the thing was very grievous in Abraham’s sight because of his son." Verse 14: "And Abraham rose up early in the morning, and took bread, and a bottle of water, and gave it unto Hagar, putting it on her shoulder, and the child, and sent her away: and she departed, and wandered in the wilderness of Beersheba." Verse 18: "Arise, lift up the lad, and hold him in thine hand; for I will make him a great nation."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21:21-24. Follow along in the King James as I read.
Verse 21: "And he dwelt in the wilderness of Paran: and his mother took him a wife out of the land of Egypt." Verse 24: "And Abraham said, I will swear."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21:27-34. Follow along in the King James as I read.
Verse 27: "And Abraham took sheep and oxen, and gave them unto Abimelech; and both of them made a covenant." Verse 31: "Wherefore he called that place Beersheba; because there they sware both of them." Verse 34: "And Abraham sojourned in the Philistines’ land many days."
[PAUSE]
Now here's the thing — look at what God is doing here. God's promises are not hopes; they are guarantees signed in His own faithfulness.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22:3-7. Follow along in the King James as I read.
Verse 3: "And Abraham rose up early in the morning, and saddled his ass, and took two of his young men with him, and Isaac his son, and clave the wood for the burnt offering, and rose up, and went unto the place of which God had told him." Verse 7: "And Isaac spake unto Abraham his father, and said, My father: and he said, Here am I, my son. And he said, Behold the fire and the wood: but where is the lamb for a burnt offering?"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22:10-17. Follow along in the King James as I read.
Verse 10: "And Abraham stretched forth his hand, and took the knife to slay his son." Verse 13: "And Abraham lifted up his eyes, and looked, and behold behind him a ram caught in a thicket by his horns: and Abraham went and took the ram, and offered him up for a burnt offering in the stead of his son." Verse 17: "That in blessing I will bless thee, and in multiplying I will multiply thy seed as the stars of the heaven, and as the sand which is upon the sea shore; and thy seed shall possess the gate of his enemies;"
[PAUSE]
Now here's the thing — look at what God is doing here. Sin is never small. It always costs more than we planned to pay.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22:20-23. Follow along in the King James as I read.
Verse 20: "And it came to pass after these things, that it was told Abraham, saying, Behold, Milcah, she hath also born children unto thy brother Nahor;" Verse 23: "And Bethuel begat Rebekah: these eight Milcah did bear to Nahor, Abraham’s brother."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23:3-9. Follow along in the King James as I read.
Verse 3: "And Abraham stood up from before his dead, and spake unto the sons of Heth, saying," Verse 6: "Hear us, my lord: thou art a mighty prince among us: in the choice of our sepulchres bury thy dead; none of us shall withhold from thee his sepulchre, but that thou mayest bury thy dead." Verse 9: "That he may give me the cave of Machpelah, which he hath, which is in the end of his field; for as much money as it is worth he shall give it me for a possession of a buryingplace amongst you."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23:13-16. Follow along in the King James as I read.
Verse 13: "And he spake unto Ephron in the audience of the people of the land, saying, But if thou wilt give it, I pray thee, hear me: I will give thee money for the field; take it of me, and I will bury my dead there." Verse 16: "And Abraham hearkened unto Ephron; and Abraham weighed to Ephron the silver, which he had named in the audience of the sons of Heth, four hundred shekels of silver, current money with the merchant."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23:19-24:6. Follow along in the King James as I read.
Verse 19: "And after this, Abraham buried Sarah his wife in the cave of the field of Machpelah before Mamre: the same is Hebron in the land of Canaan." Verse 3: "And I will make thee swear by the LORD, the God of heaven, and the God of the earth, that thou shalt not take a wife unto my son of the daughters of the Canaanites, among whom I dwell:" Verse 6: "And Abraham said unto him, Beware thou that thou bring not my son thither again."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24:9-13. Follow along in the King James as I read.
Verse 9: "And the servant put his hand under the thigh of Abraham his master, and sware to him concerning that matter." Verse 13: "Behold, I stand here by the well of water; and the daughters of the men of the city come out to draw water:"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24:16-22. Follow along in the King James as I read.
Verse 16: "And the damsel was very fair to look upon, a virgin, neither had any man known her: and she went down to the well, and filled her pitcher, and came up." Verse 19: "And when she had done giving him drink, she said, I will draw water for thy camels also, until they have done drinking." Verse 22: "And it came to pass, as the camels had done drinking, that the man took a golden earring of half a shekel weight, and two bracelets for her hands of ten shekels weight of gold;"
[PAUSE]
Now here's the thing — look at what God is doing here. There is a throne behind the thrones, and the One who sits on it never abdicates.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24:26-29. Follow along in the King James as I read.
Verse 26: "And the man bowed down his head, and worshipped the LORD." Verse 29: "And Rebekah had a brother, and his name was Laban: and Laban ran out unto the man, unto the well."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24:32-39. Follow along in the King James as I read.
Verse 32: "And the man came into the house: and he ungirded his camels, and gave straw and provender for the camels, and water to wash his feet, and the men’s feet that were with him." Verse 36: "And Sarah my master’s wife bare a son to my master when she was old: and unto him hath he given all that he hath." Verse 39: "And I said unto my master, Peradventure the woman will not follow me."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24:42-46. Follow along in the King James as I read.
Verse 42: "And I came this day unto the well, and said, O LORD God of my master Abraham, if now thou do prosper my way which I go:" Verse 46: "And she made haste, and let down her pitcher from her shoulder, and said, Drink, and I will give thy camels drink also: so I drank, and she made the camels drink also."
[PAUSE]
Now here's the thing — look at what God is doing here. God speaks, and what was not, is. His word is the engine of reality.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24:49-56. Follow along in the King James as I read.
Verse 49: "And now if ye will deal kindly and truly with my master, tell me: and if not, tell me; that I may turn to the right hand, or to the left." Verse 52: "And it came to pass, that, when Abraham’s servant heard their words, he worshipped the LORD, bowing himself to the earth." Verse 56: "And he said unto them, Hinder me not, seeing the LORD hath prospered my way; send me away that I may go to my master."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24:59-62. Follow along in the King James as I read.
Verse 59: "And they sent away Rebekah their sister, and her nurse, and Abraham’s servant, and his men." Verse 62: "And Isaac came from the way of the well Lahairoi; for he dwelt in the south country."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24:66-25:5. Follow along in the King James as I read.
Verse 66: "And the servant told Isaac all things that he had done." Verse 2: "And she bare him Zimran, and Jokshan, and Medan, and Midian, and Ishbak, and Shuah." Verse 5: "And Abraham gave all that he had unto Isaac."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25:9-12. Follow along in the King James as I read.
Verse 9: "And his sons Isaac and Ishmael buried him in the cave of Machpelah, in the field of Ephron the son of Zohar the Hittite, which is before Mamre;" Verse 12: "Now these are the generations of Ishmael, Abraham’s son, whom Hagar the Egyptian, Sarah’s handmaid, bare unto Abraham:"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with me at Genesis 25:15. Follow along in the King James as I read.
Verse 15: "Hadar, and Tema, Jetur, Naphish, and Kedemah:"
[PAUSE]
Now here's the thing — look at what God is doing here. Don't miss this — beginnings — God creates, mankind falls, and grace begins its long march toward a Redeemer.
Read it again in your heart and let it settle. This is not religious decoration. This is the living word of God, and it is doing surgery on us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slow down and do a little Bible triage on the facts. THEN — the who, the what, and the when.
WHO. Genesis comes to us through Moses, written to the redeemed nation of Israel at the edge of the Promised Land. Real people, real place, real pressure.
WHAT. The heartbeat of this book is one thing: beginnings — God creates, mankind falls, and grace begins its long march toward a Redeemer. Everything in Genesis 19:1-25:18 serves that one argument.
WHEN. We are looking at roughly c. 1446-1406 BC. Hold that date in your mind — it keeps us honest and keeps the text in its own world before we drag it into ours.
Write this down: context is not optional. It is the floor we stand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observe. Before we apply anything, we have to actually see what is on the page. So let's walk the trail slowly.
Observation 1. THE TEXT ITSELF: Read Genesis 19:1-25:18 slowly. Notice God is the acting subject — He initiates before anyone responds. Write this down: grace always moves first.
Observation 2. STRUCTURE: This passage is built with intention, not accident. Mark the repeated words and the turning point — the Holy Spirit underlines what matters most.
Observation 3. Leaders of the conservative movement note that Genesis must be read in its covenant context, not lifted out as isolated proverbs. The whole book argues one case: beginnings — God creates, mankind falls, and grace begins its long march toward a Redeemer.
Observation 4. Conservative scholars observe that the original audience — the redeemed nation of Israel at the edge of the Promised Land — heard this as a word for their crisis, not a timeless abstraction. Get the THEN right and the TODAY lands true.
Observation 5. Watch the contrast between human failure and divine faithfulness. The people stumble; God does not.
Observation 6. Look at what God is doing here: He is not merely correcting behavior, He is forming a people for His own glory.
Observation 7. Here's the thing — this passage refuses to leave you neutral. It diagnoses the heart and then offers the only cure.
Observation 8. Every detail is a step off the beach and into the interior. This is the map: beginnings — God creates, mankind falls, and grace begins its long march toward a Redeemer.
Do you see it? This is what I mean by getting off the beach. The treasure was never in the shallows. It is right here in the details of the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was THEN. Now TODAY. Because if all we do is learn ancient history, we have missed the whole point. This Book reads us.
FALLEN CONDITION FOCUS: This passage exposes our tendency to settle on the beach of easy religion when God is calling us into the deep.
So let's get personal. Four questions — and don't answer the easy way.
Question 1. Where in babel &amp; abraham do you see your own heart described — not someone else's?
Question 2. What does this passage say is true about God that, if you really believed it on Monday morning, would change how you live?
Question 3. Be specific: name one place this week where you have been living as if this text were not true.
Question 4. What would repentance actually look like here — not in theory, but in your calendar, your wallet, your words?
[PAUSE] Sit in that. Don't rush past the discomfort. That discomfort is the Surgeon's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 PROCLAMATION: Who in your life needs to hear what Genesis Babel &amp; Abraham reveals about God, and what is keeping you from telling them this week?
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
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grounded us. TODAY cut us. Now TOMORROW lifts us — because every trail on this continent leads to one summit, and His name is Jesus.
THE PROMISE OPENED. Genesis does not stand alone. It is a thread in one tapestry, and the tapestry is Christ. What is begun here strains forward toward the One who fulfills it.
THE NEED EXPOSED. This passage shows us a gap no human effort can close — between a holy God and an unholy people. That gap is the silhouette of a cross. The diagnosis here is precisely the wound the gospel heals.
THE SHADOW AND THE SUBSTANCE. Conservative scholars observe that the patterns here — covenant, sacrifice, kingship, deliverance — are shadows cast backward by Jesus. See the shadow, then look up and find the One casting it.
THE SUMMIT. Every trail leads to the same summit. Babel &amp; Abraham lifts our eyes from history, through our own hearts, to the risen Christ who reigns now and is coming again.
Don't miss this: the Old shadows and the New light are one story. This is the map, and the map ends at an empty tomb.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seal it with the memory verse. Hide this one in your heart: "But Abimelech had not come near her: and he said, LORD, wilt thou slay also a righteous nation?" — that's Genesis 20:4.
Here is the whole trail in three sentences. THEN: Moses delivered Babel &amp; Abraham to the redeemed nation of Israel at the edge of the Promised Land around c. 1446-1406 BC. TODAY: It exposes our hearts and calls us off the beach into real repentance and trust. TOMORROW: And it points, like every passage, straight to the risen Christ.
[PRAY] Father, thank You for taking us off the beach today. Write this word on our hearts. Make us doers and not hearers only, and let everything we have seen drive us deeper into Jesus, in whose name we pray, amen.
That's Lesson done. Keep walking. The interior is wide, and the King is good. I'll see you on the next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320040"/>
            <a:ext cx="8229600" cy="365760"/>
          </a:xfrm>
          <a:prstGeom prst="rect">
            <a:avLst/>
          </a:prstGeom>
          <a:noFill/>
          <a:ln/>
        </p:spPr>
        <p:txBody>
          <a:bodyPr wrap="square" rtlCol="0" anchor="ctr"/>
          <a:lstStyle/>
          <a:p>
            <a:pPr indent="0" marL="0">
              <a:buNone/>
            </a:pPr>
            <a:r>
              <a:rPr lang="en-US" sz="1300" b="1" spc="200" kern="0" dirty="0">
                <a:solidFill>
                  <a:srgbClr val="B89442"/>
                </a:solidFill>
                <a:latin typeface="Calibri" pitchFamily="34" charset="0"/>
                <a:ea typeface="Calibri" pitchFamily="34" charset="-122"/>
                <a:cs typeface="Calibri" pitchFamily="34" charset="-120"/>
              </a:rPr>
              <a:t>GENESIS BIBLE STUDY · LESSON 4a · PART B</a:t>
            </a:r>
            <a:endParaRPr lang="en-US" sz="1300" dirty="0"/>
          </a:p>
        </p:txBody>
      </p:sp>
      <p:sp>
        <p:nvSpPr>
          <p:cNvPr id="5" name="Text 3"/>
          <p:cNvSpPr/>
          <p:nvPr/>
        </p:nvSpPr>
        <p:spPr>
          <a:xfrm>
            <a:off x="457200" y="777240"/>
            <a:ext cx="8229600" cy="1097280"/>
          </a:xfrm>
          <a:prstGeom prst="rect">
            <a:avLst/>
          </a:prstGeom>
          <a:noFill/>
          <a:ln/>
        </p:spPr>
        <p:txBody>
          <a:bodyPr wrap="square" rtlCol="0" anchor="ctr"/>
          <a:lstStyle/>
          <a:p>
            <a:pPr indent="0" marL="0">
              <a:buNone/>
            </a:pPr>
            <a:r>
              <a:rPr lang="en-US" sz="4800" b="1" dirty="0">
                <a:solidFill>
                  <a:srgbClr val="F0E6CC"/>
                </a:solidFill>
                <a:latin typeface="Georgia" pitchFamily="34" charset="0"/>
                <a:ea typeface="Georgia" pitchFamily="34" charset="-122"/>
                <a:cs typeface="Georgia" pitchFamily="34" charset="-120"/>
              </a:rPr>
              <a:t>Babel &amp; Abraham</a:t>
            </a:r>
            <a:endParaRPr lang="en-US" sz="4800" dirty="0"/>
          </a:p>
        </p:txBody>
      </p:sp>
      <p:sp>
        <p:nvSpPr>
          <p:cNvPr id="6" name="Text 4"/>
          <p:cNvSpPr/>
          <p:nvPr/>
        </p:nvSpPr>
        <p:spPr>
          <a:xfrm>
            <a:off x="457200" y="1874520"/>
            <a:ext cx="8229600" cy="365760"/>
          </a:xfrm>
          <a:prstGeom prst="rect">
            <a:avLst/>
          </a:prstGeom>
          <a:noFill/>
          <a:ln/>
        </p:spPr>
        <p:txBody>
          <a:bodyPr wrap="square" rtlCol="0" anchor="ctr"/>
          <a:lstStyle/>
          <a:p>
            <a:pPr indent="0" marL="0">
              <a:buNone/>
            </a:pPr>
            <a:r>
              <a:rPr lang="en-US" sz="1800" i="1" dirty="0">
                <a:solidFill>
                  <a:srgbClr val="B89442"/>
                </a:solidFill>
                <a:latin typeface="Georgia" pitchFamily="34" charset="0"/>
                <a:ea typeface="Georgia" pitchFamily="34" charset="-122"/>
                <a:cs typeface="Georgia" pitchFamily="34" charset="-120"/>
              </a:rPr>
              <a:t>Genesis 19:1-25:18</a:t>
            </a:r>
            <a:endParaRPr lang="en-US" sz="1800" dirty="0"/>
          </a:p>
        </p:txBody>
      </p:sp>
      <p:sp>
        <p:nvSpPr>
          <p:cNvPr id="7" name="Shape 5"/>
          <p:cNvSpPr/>
          <p:nvPr/>
        </p:nvSpPr>
        <p:spPr>
          <a:xfrm>
            <a:off x="457200" y="2423160"/>
            <a:ext cx="8229600" cy="1371600"/>
          </a:xfrm>
          <a:prstGeom prst="roundRect">
            <a:avLst>
              <a:gd name="adj" fmla="val 4000"/>
            </a:avLst>
          </a:prstGeom>
          <a:solidFill>
            <a:srgbClr val="1D2B1F"/>
          </a:solidFill>
          <a:ln w="12700">
            <a:solidFill>
              <a:srgbClr val="B89442"/>
            </a:solidFill>
            <a:prstDash val="solid"/>
          </a:ln>
        </p:spPr>
      </p:sp>
      <p:sp>
        <p:nvSpPr>
          <p:cNvPr id="8" name="Text 6"/>
          <p:cNvSpPr/>
          <p:nvPr/>
        </p:nvSpPr>
        <p:spPr>
          <a:xfrm>
            <a:off x="685800" y="2514600"/>
            <a:ext cx="7772400" cy="1188720"/>
          </a:xfrm>
          <a:prstGeom prst="rect">
            <a:avLst/>
          </a:prstGeom>
          <a:noFill/>
          <a:ln/>
        </p:spPr>
        <p:txBody>
          <a:bodyPr wrap="square" rtlCol="0" anchor="ctr"/>
          <a:lstStyle/>
          <a:p>
            <a:pPr algn="ctr" indent="0" marL="0">
              <a:buNone/>
            </a:pPr>
            <a:r>
              <a:rPr lang="en-US" sz="1800" dirty="0">
                <a:solidFill>
                  <a:srgbClr val="F0E6CC"/>
                </a:solidFill>
                <a:latin typeface="Calibri" pitchFamily="34" charset="0"/>
                <a:ea typeface="Calibri" pitchFamily="34" charset="-122"/>
                <a:cs typeface="Calibri" pitchFamily="34" charset="-120"/>
              </a:rPr>
              <a:t>Beginnings — God creates, mankind falls, and grace begins its long march toward a Redeemer — and Babel &amp; Abraham is the place God makes it unmistakable.</a:t>
            </a:r>
            <a:endParaRPr lang="en-US" sz="1800" dirty="0"/>
          </a:p>
        </p:txBody>
      </p:sp>
      <p:sp>
        <p:nvSpPr>
          <p:cNvPr id="9" name="Text 7"/>
          <p:cNvSpPr/>
          <p:nvPr/>
        </p:nvSpPr>
        <p:spPr>
          <a:xfrm>
            <a:off x="457200" y="3977640"/>
            <a:ext cx="8229600" cy="365760"/>
          </a:xfrm>
          <a:prstGeom prst="rect">
            <a:avLst/>
          </a:prstGeom>
          <a:noFill/>
          <a:ln/>
        </p:spPr>
        <p:txBody>
          <a:bodyPr wrap="square" rtlCol="0" anchor="ctr"/>
          <a:lstStyle/>
          <a:p>
            <a:pPr indent="0" marL="0">
              <a:buNone/>
            </a:pPr>
            <a:r>
              <a:rPr lang="en-US" sz="1100" i="1" dirty="0">
                <a:solidFill>
                  <a:srgbClr val="F0E6CC"/>
                </a:solidFill>
                <a:latin typeface="Calibri" pitchFamily="34" charset="0"/>
                <a:ea typeface="Calibri" pitchFamily="34" charset="-122"/>
                <a:cs typeface="Calibri" pitchFamily="34" charset="-120"/>
              </a:rPr>
              <a:t>Memory Verse: Genesis 20:4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548640"/>
          </a:xfrm>
          <a:prstGeom prst="rect">
            <a:avLst/>
          </a:prstGeom>
          <a:noFill/>
          <a:ln/>
        </p:spPr>
        <p:txBody>
          <a:bodyPr wrap="square" rtlCol="0" anchor="ctr"/>
          <a:lstStyle/>
          <a:p>
            <a:pPr indent="0" marL="0">
              <a:buNone/>
            </a:pPr>
            <a:r>
              <a:rPr lang="en-US" sz="2600" b="1" dirty="0">
                <a:solidFill>
                  <a:srgbClr val="F0E6CC"/>
                </a:solidFill>
                <a:latin typeface="Georgia" pitchFamily="34" charset="0"/>
                <a:ea typeface="Georgia" pitchFamily="34" charset="-122"/>
                <a:cs typeface="Georgia" pitchFamily="34" charset="-120"/>
              </a:rPr>
              <a:t>God's Story — The Timeline</a:t>
            </a:r>
            <a:endParaRPr lang="en-US" sz="2600" dirty="0"/>
          </a:p>
        </p:txBody>
      </p:sp>
      <p:sp>
        <p:nvSpPr>
          <p:cNvPr id="5" name="Shape 3"/>
          <p:cNvSpPr/>
          <p:nvPr/>
        </p:nvSpPr>
        <p:spPr>
          <a:xfrm>
            <a:off x="493776" y="1051560"/>
            <a:ext cx="955548" cy="777240"/>
          </a:xfrm>
          <a:prstGeom prst="roundRect">
            <a:avLst>
              <a:gd name="adj" fmla="val 7059"/>
            </a:avLst>
          </a:prstGeom>
          <a:solidFill>
            <a:srgbClr val="1D2B1F"/>
          </a:solidFill>
          <a:ln w="12700">
            <a:solidFill>
              <a:srgbClr val="B89442"/>
            </a:solidFill>
            <a:prstDash val="solid"/>
          </a:ln>
        </p:spPr>
      </p:sp>
      <p:sp>
        <p:nvSpPr>
          <p:cNvPr id="6" name="Text 4"/>
          <p:cNvSpPr/>
          <p:nvPr/>
        </p:nvSpPr>
        <p:spPr>
          <a:xfrm>
            <a:off x="4937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Creation / Fall</a:t>
            </a:r>
            <a:endParaRPr lang="en-US" sz="850" dirty="0"/>
          </a:p>
        </p:txBody>
      </p:sp>
      <p:sp>
        <p:nvSpPr>
          <p:cNvPr id="7" name="Shape 5"/>
          <p:cNvSpPr/>
          <p:nvPr/>
        </p:nvSpPr>
        <p:spPr>
          <a:xfrm>
            <a:off x="1522476" y="1051560"/>
            <a:ext cx="955548" cy="777240"/>
          </a:xfrm>
          <a:prstGeom prst="roundRect">
            <a:avLst>
              <a:gd name="adj" fmla="val 7059"/>
            </a:avLst>
          </a:prstGeom>
          <a:solidFill>
            <a:srgbClr val="B89442"/>
          </a:solidFill>
          <a:ln w="12700">
            <a:solidFill>
              <a:srgbClr val="B89442"/>
            </a:solidFill>
            <a:prstDash val="solid"/>
          </a:ln>
        </p:spPr>
      </p:sp>
      <p:sp>
        <p:nvSpPr>
          <p:cNvPr id="8" name="Text 6"/>
          <p:cNvSpPr/>
          <p:nvPr/>
        </p:nvSpPr>
        <p:spPr>
          <a:xfrm>
            <a:off x="1522476" y="1051560"/>
            <a:ext cx="955548" cy="777240"/>
          </a:xfrm>
          <a:prstGeom prst="rect">
            <a:avLst/>
          </a:prstGeom>
          <a:noFill/>
          <a:ln/>
        </p:spPr>
        <p:txBody>
          <a:bodyPr wrap="square" rtlCol="0" anchor="ctr"/>
          <a:lstStyle/>
          <a:p>
            <a:pPr algn="ctr" indent="0" marL="0">
              <a:buNone/>
            </a:pPr>
            <a:r>
              <a:rPr lang="en-US" sz="850" b="1" dirty="0">
                <a:solidFill>
                  <a:srgbClr val="F0E6CC"/>
                </a:solidFill>
                <a:latin typeface="Calibri" pitchFamily="34" charset="0"/>
                <a:ea typeface="Calibri" pitchFamily="34" charset="-122"/>
                <a:cs typeface="Calibri" pitchFamily="34" charset="-120"/>
              </a:rPr>
              <a:t>Abraham / Promise</a:t>
            </a:r>
            <a:endParaRPr lang="en-US" sz="850" dirty="0"/>
          </a:p>
        </p:txBody>
      </p:sp>
      <p:sp>
        <p:nvSpPr>
          <p:cNvPr id="9" name="Text 7"/>
          <p:cNvSpPr/>
          <p:nvPr/>
        </p:nvSpPr>
        <p:spPr>
          <a:xfrm>
            <a:off x="1303020" y="1847088"/>
            <a:ext cx="1394460" cy="274320"/>
          </a:xfrm>
          <a:prstGeom prst="rect">
            <a:avLst/>
          </a:prstGeom>
          <a:noFill/>
          <a:ln/>
        </p:spPr>
        <p:txBody>
          <a:bodyPr wrap="square" rtlCol="0" anchor="ctr"/>
          <a:lstStyle/>
          <a:p>
            <a:pPr algn="ctr" indent="0" marL="0">
              <a:buNone/>
            </a:pPr>
            <a:r>
              <a:rPr lang="en-US" sz="900" b="1" dirty="0">
                <a:solidFill>
                  <a:srgbClr val="B89442"/>
                </a:solidFill>
                <a:latin typeface="Calibri" pitchFamily="34" charset="0"/>
                <a:ea typeface="Calibri" pitchFamily="34" charset="-122"/>
                <a:cs typeface="Calibri" pitchFamily="34" charset="-120"/>
              </a:rPr>
              <a:t>▲ WE ARE HERE</a:t>
            </a:r>
            <a:endParaRPr lang="en-US" sz="900" dirty="0"/>
          </a:p>
        </p:txBody>
      </p:sp>
      <p:sp>
        <p:nvSpPr>
          <p:cNvPr id="10" name="Shape 8"/>
          <p:cNvSpPr/>
          <p:nvPr/>
        </p:nvSpPr>
        <p:spPr>
          <a:xfrm>
            <a:off x="2551176" y="1051560"/>
            <a:ext cx="955548" cy="777240"/>
          </a:xfrm>
          <a:prstGeom prst="roundRect">
            <a:avLst>
              <a:gd name="adj" fmla="val 7059"/>
            </a:avLst>
          </a:prstGeom>
          <a:solidFill>
            <a:srgbClr val="1D2B1F"/>
          </a:solidFill>
          <a:ln w="12700">
            <a:solidFill>
              <a:srgbClr val="B89442"/>
            </a:solidFill>
            <a:prstDash val="solid"/>
          </a:ln>
        </p:spPr>
      </p:sp>
      <p:sp>
        <p:nvSpPr>
          <p:cNvPr id="11" name="Text 9"/>
          <p:cNvSpPr/>
          <p:nvPr/>
        </p:nvSpPr>
        <p:spPr>
          <a:xfrm>
            <a:off x="25511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Exodus / Law</a:t>
            </a:r>
            <a:endParaRPr lang="en-US" sz="850" dirty="0"/>
          </a:p>
        </p:txBody>
      </p:sp>
      <p:sp>
        <p:nvSpPr>
          <p:cNvPr id="12" name="Shape 10"/>
          <p:cNvSpPr/>
          <p:nvPr/>
        </p:nvSpPr>
        <p:spPr>
          <a:xfrm>
            <a:off x="3579876" y="1051560"/>
            <a:ext cx="955548" cy="777240"/>
          </a:xfrm>
          <a:prstGeom prst="roundRect">
            <a:avLst>
              <a:gd name="adj" fmla="val 7059"/>
            </a:avLst>
          </a:prstGeom>
          <a:solidFill>
            <a:srgbClr val="1D2B1F"/>
          </a:solidFill>
          <a:ln w="12700">
            <a:solidFill>
              <a:srgbClr val="B89442"/>
            </a:solidFill>
            <a:prstDash val="solid"/>
          </a:ln>
        </p:spPr>
      </p:sp>
      <p:sp>
        <p:nvSpPr>
          <p:cNvPr id="13" name="Text 11"/>
          <p:cNvSpPr/>
          <p:nvPr/>
        </p:nvSpPr>
        <p:spPr>
          <a:xfrm>
            <a:off x="35798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Kings / Temple</a:t>
            </a:r>
            <a:endParaRPr lang="en-US" sz="850" dirty="0"/>
          </a:p>
        </p:txBody>
      </p:sp>
      <p:sp>
        <p:nvSpPr>
          <p:cNvPr id="14" name="Shape 12"/>
          <p:cNvSpPr/>
          <p:nvPr/>
        </p:nvSpPr>
        <p:spPr>
          <a:xfrm>
            <a:off x="4608576" y="1051560"/>
            <a:ext cx="955548" cy="777240"/>
          </a:xfrm>
          <a:prstGeom prst="roundRect">
            <a:avLst>
              <a:gd name="adj" fmla="val 7059"/>
            </a:avLst>
          </a:prstGeom>
          <a:solidFill>
            <a:srgbClr val="1D2B1F"/>
          </a:solidFill>
          <a:ln w="12700">
            <a:solidFill>
              <a:srgbClr val="B89442"/>
            </a:solidFill>
            <a:prstDash val="solid"/>
          </a:ln>
        </p:spPr>
      </p:sp>
      <p:sp>
        <p:nvSpPr>
          <p:cNvPr id="15" name="Text 13"/>
          <p:cNvSpPr/>
          <p:nvPr/>
        </p:nvSpPr>
        <p:spPr>
          <a:xfrm>
            <a:off x="46085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Exile / Return</a:t>
            </a:r>
            <a:endParaRPr lang="en-US" sz="850" dirty="0"/>
          </a:p>
        </p:txBody>
      </p:sp>
      <p:sp>
        <p:nvSpPr>
          <p:cNvPr id="16" name="Shape 14"/>
          <p:cNvSpPr/>
          <p:nvPr/>
        </p:nvSpPr>
        <p:spPr>
          <a:xfrm>
            <a:off x="5637276" y="1051560"/>
            <a:ext cx="955548" cy="777240"/>
          </a:xfrm>
          <a:prstGeom prst="roundRect">
            <a:avLst>
              <a:gd name="adj" fmla="val 7059"/>
            </a:avLst>
          </a:prstGeom>
          <a:solidFill>
            <a:srgbClr val="1D2B1F"/>
          </a:solidFill>
          <a:ln w="12700">
            <a:solidFill>
              <a:srgbClr val="B89442"/>
            </a:solidFill>
            <a:prstDash val="solid"/>
          </a:ln>
        </p:spPr>
      </p:sp>
      <p:sp>
        <p:nvSpPr>
          <p:cNvPr id="17" name="Text 15"/>
          <p:cNvSpPr/>
          <p:nvPr/>
        </p:nvSpPr>
        <p:spPr>
          <a:xfrm>
            <a:off x="56372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Jesus Fulfills</a:t>
            </a:r>
            <a:endParaRPr lang="en-US" sz="850" dirty="0"/>
          </a:p>
        </p:txBody>
      </p:sp>
      <p:sp>
        <p:nvSpPr>
          <p:cNvPr id="18" name="Shape 16"/>
          <p:cNvSpPr/>
          <p:nvPr/>
        </p:nvSpPr>
        <p:spPr>
          <a:xfrm>
            <a:off x="6665976" y="1051560"/>
            <a:ext cx="955548" cy="777240"/>
          </a:xfrm>
          <a:prstGeom prst="roundRect">
            <a:avLst>
              <a:gd name="adj" fmla="val 7059"/>
            </a:avLst>
          </a:prstGeom>
          <a:solidFill>
            <a:srgbClr val="1D2B1F"/>
          </a:solidFill>
          <a:ln w="12700">
            <a:solidFill>
              <a:srgbClr val="B89442"/>
            </a:solidFill>
            <a:prstDash val="solid"/>
          </a:ln>
        </p:spPr>
      </p:sp>
      <p:sp>
        <p:nvSpPr>
          <p:cNvPr id="19" name="Text 17"/>
          <p:cNvSpPr/>
          <p:nvPr/>
        </p:nvSpPr>
        <p:spPr>
          <a:xfrm>
            <a:off x="66659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Church / Spirit</a:t>
            </a:r>
            <a:endParaRPr lang="en-US" sz="850" dirty="0"/>
          </a:p>
        </p:txBody>
      </p:sp>
      <p:sp>
        <p:nvSpPr>
          <p:cNvPr id="20" name="Shape 18"/>
          <p:cNvSpPr/>
          <p:nvPr/>
        </p:nvSpPr>
        <p:spPr>
          <a:xfrm>
            <a:off x="7694676" y="1051560"/>
            <a:ext cx="955548" cy="777240"/>
          </a:xfrm>
          <a:prstGeom prst="roundRect">
            <a:avLst>
              <a:gd name="adj" fmla="val 7059"/>
            </a:avLst>
          </a:prstGeom>
          <a:solidFill>
            <a:srgbClr val="1D2B1F"/>
          </a:solidFill>
          <a:ln w="12700">
            <a:solidFill>
              <a:srgbClr val="B89442"/>
            </a:solidFill>
            <a:prstDash val="solid"/>
          </a:ln>
        </p:spPr>
      </p:sp>
      <p:sp>
        <p:nvSpPr>
          <p:cNvPr id="21" name="Text 19"/>
          <p:cNvSpPr/>
          <p:nvPr/>
        </p:nvSpPr>
        <p:spPr>
          <a:xfrm>
            <a:off x="7694676" y="1051560"/>
            <a:ext cx="955548" cy="777240"/>
          </a:xfrm>
          <a:prstGeom prst="rect">
            <a:avLst/>
          </a:prstGeom>
          <a:noFill/>
          <a:ln/>
        </p:spPr>
        <p:txBody>
          <a:bodyPr wrap="square" rtlCol="0" anchor="ctr"/>
          <a:lstStyle/>
          <a:p>
            <a:pPr algn="ctr" indent="0" marL="0">
              <a:buNone/>
            </a:pPr>
            <a:r>
              <a:rPr lang="en-US" sz="850" dirty="0">
                <a:solidFill>
                  <a:srgbClr val="F0E6CC"/>
                </a:solidFill>
                <a:latin typeface="Calibri" pitchFamily="34" charset="0"/>
                <a:ea typeface="Calibri" pitchFamily="34" charset="-122"/>
                <a:cs typeface="Calibri" pitchFamily="34" charset="-120"/>
              </a:rPr>
              <a:t>New Creation</a:t>
            </a:r>
            <a:endParaRPr lang="en-US" sz="850" dirty="0"/>
          </a:p>
        </p:txBody>
      </p:sp>
      <p:sp>
        <p:nvSpPr>
          <p:cNvPr id="22" name="Shape 20"/>
          <p:cNvSpPr/>
          <p:nvPr/>
        </p:nvSpPr>
        <p:spPr>
          <a:xfrm>
            <a:off x="457200" y="2377440"/>
            <a:ext cx="8229600" cy="2194560"/>
          </a:xfrm>
          <a:prstGeom prst="roundRect">
            <a:avLst>
              <a:gd name="adj" fmla="val 2500"/>
            </a:avLst>
          </a:prstGeom>
          <a:solidFill>
            <a:srgbClr val="1D2B1F"/>
          </a:solidFill>
          <a:ln w="12700">
            <a:solidFill>
              <a:srgbClr val="1D2B1F"/>
            </a:solidFill>
            <a:prstDash val="solid"/>
          </a:ln>
        </p:spPr>
      </p:sp>
      <p:sp>
        <p:nvSpPr>
          <p:cNvPr id="23" name="Text 21"/>
          <p:cNvSpPr/>
          <p:nvPr/>
        </p:nvSpPr>
        <p:spPr>
          <a:xfrm>
            <a:off x="685800" y="2514600"/>
            <a:ext cx="7772400" cy="1920240"/>
          </a:xfrm>
          <a:prstGeom prst="rect">
            <a:avLst/>
          </a:prstGeom>
          <a:noFill/>
          <a:ln/>
        </p:spPr>
        <p:txBody>
          <a:bodyPr wrap="square" rtlCol="0" anchor="t"/>
          <a:lstStyle/>
          <a:p>
            <a:pPr indent="0" marL="0">
              <a:buNone/>
            </a:pPr>
            <a:r>
              <a:rPr lang="en-US" sz="1400" dirty="0">
                <a:solidFill>
                  <a:srgbClr val="F0E6CC"/>
                </a:solidFill>
                <a:latin typeface="Calibri" pitchFamily="34" charset="0"/>
                <a:ea typeface="Calibri" pitchFamily="34" charset="-122"/>
                <a:cs typeface="Calibri" pitchFamily="34" charset="-120"/>
              </a:rPr>
              <a:t>The redeemed nation of Israel at the edge of the Promised Land stood at a hinge of history. Beginnings — God creates, mankind falls, and grace begins its long march toward a Redeemer. God was not speaking into a vacuum; He was speaking into their crisis, their hope, and their need — and the same God speaks to us through these very words.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19:1-7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there came two angels to Sodom at even; and Lot sat in the gate of Sodom: and Lot seeing them rose up to meet them; and he bowed himself with his face toward the ground;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before they lay down, the men of the city, even the men of Sodom, compassed the house round, both old and young, all the people from every quarter: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said, I pray you, brethren, do not so wickedly.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19:10-14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But the men put forth their hand, and pulled Lot into the house to them, and shut to the door.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Lot went out, and spake unto his sons in law, which married his daughters, and said, Up, get you out of this place; for the LORD will destroy this city. But he seemed as one that mocked unto his sons in law.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19:17-24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when they had brought them forth abroad, that he said, Escape for thy life; look not behind thee, neither stay thou in all the plain; escape to the mountain, lest thou be consumed.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Behold now, this city is near to flee unto, and it is a little one: Oh, let me escape thither, (is it not a little one?) and my soul shall live.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the LORD rained upon Sodom and upon Gomorrah brimstone and fire from the LORD out of heaven;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19:27-30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gat up early in the morning to the place where he stood before the LORD: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Lot went up out of Zoar, and dwelt in the mountain, and his two daughters with him; for he feared to dwell in Zoar: and he dwelt in a cave, he and his two daughters.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19:34-20:2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on the morrow, that the firstborn said unto the younger, Behold, I lay yesternight with my father: let us make him drink wine this night also; and go thou in, and lie with him, that we may preserve seed of our father.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first born bare a son, and called his name Moab: the same is the father of the Moabites unto this day.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said of Sarah his wife, She is my sister: and Abimelech king of Gerar sent, and took Sarah.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20:6-9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God said unto him in a dream, Yea, I know that thou didst this in the integrity of thy heart; for I also withheld thee from sinning against me: therefore suffered I thee not to touch her.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Then Abimelech called Abraham, and said unto him, What hast thou done unto us? and what have I offended thee, that thou hast brought on me and on my kingdom a great sin? thou hast done deeds unto me that ought not to be done.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20:12-21:1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yet indeed she is my sister; she is the daughter of my father, but not the daughter of my mother; and she became my wife.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unto Sarah he said, Behold, I have given thy brother a thousand pieces of silver: behold, he is to thee a covering of the eyes, unto all that are with thee, and with all other: thus she was reproved.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LORD visited Sarah as he had said, and the LORD did unto Sarah as he had spoken.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21:4-8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circumcised his son Isaac being eight days old, as God had commanded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child grew, and was weaned: and Abraham made a great feast the same day that Isaac was weaned.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21:11-18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thing was very grievous in Abraham’s sight because of his son.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rose up early in the morning, and took bread, and a bottle of water, and gave it unto Hagar, putting it on her shoulder, and the child, and sent her away: and she departed, and wandered in the wilderness of Beersheba.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18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Arise, lift up the lad, and hold him in thine hand; for I will make him a great nation.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21:21-24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dwelt in the wilderness of Paran: and his mother took him a wife out of the land of Egypt.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said, I will swear.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21:27-34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took sheep and oxen, and gave them unto Abimelech; and both of them made a covenant.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31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Wherefore he called that place Beersheba; because there they sware both of them.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34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sojourned in the Philistines’ land many days.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God's promises are not hopes; they are guarantees signed in His own faithfulness.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22:3-7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rose up early in the morning, and saddled his ass, and took two of his young men with him, and Isaac his son, and clave the wood for the burnt offering, and rose up, and went unto the place of which God had told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spake unto Abraham his father, and said, My father: and he said, Here am I, my son. And he said, Behold the fire and the wood: but where is the lamb for a burnt offering?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22:10-17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stretched forth his hand, and took the knife to slay his son.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lifted up his eyes, and looked, and behold behind him a ram caught in a thicket by his horns: and Abraham went and took the ram, and offered him up for a burnt offering in the stead of his son.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17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That in blessing I will bless thee, and in multiplying I will multiply thy seed as the stars of the heaven, and as the sand which is upon the sea shore; and thy seed shall possess the gate of his enemies;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Sin is never small. It always costs more than we planned to pay.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22:20-23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20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after these things, that it was told Abraham, saying, Behold, Milcah, she hath also born children unto thy brother Nahor;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Bethuel begat Rebekah: these eight Milcah did bear to Nahor, Abraham’s brother.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23:3-9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stood up from before his dead, and spake unto the sons of Heth, saying,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Hear us, my lord: thou art a mighty prince among us: in the choice of our sepulchres bury thy dead; none of us shall withhold from thee his sepulchre, but that thou mayest bury thy dead.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That he may give me the cave of Machpelah, which he hath, which is in the end of his field; for as much money as it is worth he shall give it me for a possession of a buryingplace amongst you.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23:13-16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spake unto Ephron in the audience of the people of the land, saying, But if thou wilt give it, I pray thee, hear me: I will give thee money for the field; take it of me, and I will bury my dead there.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hearkened unto Ephron; and Abraham weighed to Ephron the silver, which he had named in the audience of the sons of Heth, four hundred shekels of silver, current money with the merchant.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23:19-24:6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after this, Abraham buried Sarah his wife in the cave of the field of Machpelah before Mamre: the same is Hebron in the land of Canaan.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will make thee swear by the LORD, the God of heaven, and the God of the earth, that thou shalt not take a wife unto my son of the daughters of the Canaanites, among whom I dwell: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said unto him, Beware thou that thou bring not my son thither again.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24:9-13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servant put his hand under the thigh of Abraham his master, and sware to him concerning that matter.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13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Behold, I stand here by the well of water; and the daughters of the men of the city come out to draw water: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24:16-22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damsel was very fair to look upon, a virgin, neither had any man known her: and she went down to the well, and filled her pitcher, and came up.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when she had done giving him drink, she said, I will draw water for thy camels also, until they have done drinking.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as the camels had done drinking, that the man took a golden earring of half a shekel weight, and two bracelets for her hands of ten shekels weight of gold;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There is a throne behind the thrones, and the One who sits on it never abdicates.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24:26-29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man bowed down his head, and worshipped the LORD.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Rebekah had a brother, and his name was Laban: and Laban ran out unto the man, unto the well.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24:32-39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man came into the house: and he ungirded his camels, and gave straw and provender for the camels, and water to wash his feet, and the men’s feet that were with him.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Sarah my master’s wife bare a son to my master when she was old: and unto him hath he given all that he hath.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39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said unto my master, Peradventure the woman will not follow me.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24:42-46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 came this day unto the well, and said, O LORD God of my master Abraham, if now thou do prosper my way which I go: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made haste, and let down her pitcher from her shoulder, and said, Drink, and I will give thy camels drink also: so I drank, and she made the camels drink also.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God speaks, and what was not, is. His word is the engine of reality.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24:49-56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49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now if ye will deal kindly and truly with my master, tell me: and if not, tell me; that I may turn to the right hand, or to the left.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it came to pass, that, when Abraham’s servant heard their words, he worshipped the LORD, bowing himself to the earth.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he said unto them, Hinder me not, seeing the LORD hath prospered my way; send me away that I may go to my master.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24:59-62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they sent away Rebekah their sister, and her nurse, and Abraham’s servant, and his men.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Isaac came from the way of the well Lahairoi; for he dwelt in the south country.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24:66-25:5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66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the servant told Isaac all things that he had done.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she bare him Zimran, and Jokshan, and Medan, and Midian, and Ishbak, and Shuah.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Abraham gave all that he had unto Isaac.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25:9-12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9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And his sons Isaac and Ishmael buried him in the cave of Machpelah, in the field of Ephron the son of Zohar the Hittite, which is before Mamre;  </a:t>
            </a:r>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12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Now these are the generations of Ishmael, Abraham’s son, whom Hagar the Egyptian, Sarah’s handmaid, bare unto Abraham: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365760"/>
          </a:xfrm>
          <a:prstGeom prst="rect">
            <a:avLst/>
          </a:prstGeom>
          <a:noFill/>
          <a:ln/>
        </p:spPr>
        <p:txBody>
          <a:bodyPr wrap="square" rtlCol="0" anchor="ctr"/>
          <a:lstStyle/>
          <a:p>
            <a:pPr indent="0" marL="0">
              <a:buNone/>
            </a:pPr>
            <a:r>
              <a:rPr lang="en-US" sz="1300" b="1" spc="100" kern="0" dirty="0">
                <a:solidFill>
                  <a:srgbClr val="B89442"/>
                </a:solidFill>
                <a:latin typeface="Calibri" pitchFamily="34" charset="0"/>
                <a:ea typeface="Calibri" pitchFamily="34" charset="-122"/>
                <a:cs typeface="Calibri" pitchFamily="34" charset="-120"/>
              </a:rPr>
              <a:t>SCRIPTURE · Genesis 25:15 (KJV)</a:t>
            </a:r>
            <a:endParaRPr lang="en-US" sz="1300" dirty="0"/>
          </a:p>
        </p:txBody>
      </p:sp>
      <p:sp>
        <p:nvSpPr>
          <p:cNvPr id="5" name="Shape 3"/>
          <p:cNvSpPr/>
          <p:nvPr/>
        </p:nvSpPr>
        <p:spPr>
          <a:xfrm>
            <a:off x="457200" y="777240"/>
            <a:ext cx="8229600" cy="3200400"/>
          </a:xfrm>
          <a:prstGeom prst="roundRect">
            <a:avLst>
              <a:gd name="adj" fmla="val 1714"/>
            </a:avLst>
          </a:prstGeom>
          <a:solidFill>
            <a:srgbClr val="1D2B1F"/>
          </a:solidFill>
          <a:ln w="12700">
            <a:solidFill>
              <a:srgbClr val="B89442"/>
            </a:solidFill>
            <a:prstDash val="solid"/>
          </a:ln>
        </p:spPr>
      </p:sp>
      <p:sp>
        <p:nvSpPr>
          <p:cNvPr id="6" name="Text 4"/>
          <p:cNvSpPr/>
          <p:nvPr/>
        </p:nvSpPr>
        <p:spPr>
          <a:xfrm>
            <a:off x="731520" y="914400"/>
            <a:ext cx="7680960" cy="2926080"/>
          </a:xfrm>
          <a:prstGeom prst="rect">
            <a:avLst/>
          </a:prstGeom>
          <a:noFill/>
          <a:ln/>
        </p:spPr>
        <p:txBody>
          <a:bodyPr wrap="square" rtlCol="0" anchor="ctr"/>
          <a:lstStyle/>
          <a:p>
            <a:pPr indent="0" marL="0">
              <a:lnSpc>
                <a:spcPct val="110000"/>
              </a:lnSpc>
              <a:buNone/>
            </a:pPr>
            <a:r>
              <a:rPr lang="en-US" sz="1600" b="1" dirty="0">
                <a:solidFill>
                  <a:srgbClr val="B89442"/>
                </a:solidFill>
                <a:latin typeface="Georgia" pitchFamily="34" charset="0"/>
                <a:ea typeface="Georgia" pitchFamily="34" charset="-122"/>
                <a:cs typeface="Georgia" pitchFamily="34" charset="-120"/>
              </a:rPr>
              <a:t>15 </a:t>
            </a:r>
            <a:pPr indent="0" marL="0">
              <a:lnSpc>
                <a:spcPct val="110000"/>
              </a:lnSpc>
              <a:buNone/>
            </a:pPr>
            <a:r>
              <a:rPr lang="en-US" sz="1600" i="1" dirty="0">
                <a:solidFill>
                  <a:srgbClr val="F0E6CC"/>
                </a:solidFill>
                <a:latin typeface="Georgia" pitchFamily="34" charset="0"/>
                <a:ea typeface="Georgia" pitchFamily="34" charset="-122"/>
                <a:cs typeface="Georgia" pitchFamily="34" charset="-120"/>
              </a:rPr>
              <a:t>Hadar, and Tema, Jetur, Naphish, and Kedemah:  </a:t>
            </a:r>
            <a:endParaRPr lang="en-US" sz="1600" dirty="0"/>
          </a:p>
        </p:txBody>
      </p:sp>
      <p:sp>
        <p:nvSpPr>
          <p:cNvPr id="7" name="Text 5"/>
          <p:cNvSpPr/>
          <p:nvPr/>
        </p:nvSpPr>
        <p:spPr>
          <a:xfrm>
            <a:off x="457200" y="4114800"/>
            <a:ext cx="8229600" cy="594360"/>
          </a:xfrm>
          <a:prstGeom prst="rect">
            <a:avLst/>
          </a:prstGeom>
          <a:noFill/>
          <a:ln/>
        </p:spPr>
        <p:txBody>
          <a:bodyPr wrap="square" rtlCol="0" anchor="ctr"/>
          <a:lstStyle/>
          <a:p>
            <a:pPr indent="0" marL="0">
              <a:buNone/>
            </a:pPr>
            <a:r>
              <a:rPr lang="en-US" sz="1200" b="1" dirty="0">
                <a:solidFill>
                  <a:srgbClr val="B89442"/>
                </a:solidFill>
                <a:latin typeface="Calibri" pitchFamily="34" charset="0"/>
                <a:ea typeface="Calibri" pitchFamily="34" charset="-122"/>
                <a:cs typeface="Calibri" pitchFamily="34" charset="-120"/>
              </a:rPr>
              <a:t>KEY TRUTH: Don't miss this — beginnings — God creates, mankind falls, and grace begins its long march toward a Redeemer.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WHO / WHAT / WHEN</a:t>
            </a:r>
            <a:endParaRPr lang="en-US" sz="2200" dirty="0"/>
          </a:p>
        </p:txBody>
      </p:sp>
      <p:sp>
        <p:nvSpPr>
          <p:cNvPr id="5" name="Shape 3"/>
          <p:cNvSpPr/>
          <p:nvPr/>
        </p:nvSpPr>
        <p:spPr>
          <a:xfrm>
            <a:off x="457200" y="914400"/>
            <a:ext cx="2679192" cy="2194560"/>
          </a:xfrm>
          <a:prstGeom prst="roundRect">
            <a:avLst>
              <a:gd name="adj" fmla="val 2500"/>
            </a:avLst>
          </a:prstGeom>
          <a:solidFill>
            <a:srgbClr val="1D2B1F"/>
          </a:solidFill>
          <a:ln w="12700">
            <a:solidFill>
              <a:srgbClr val="B89442"/>
            </a:solidFill>
            <a:prstDash val="solid"/>
          </a:ln>
        </p:spPr>
      </p:sp>
      <p:sp>
        <p:nvSpPr>
          <p:cNvPr id="6" name="Text 4"/>
          <p:cNvSpPr/>
          <p:nvPr/>
        </p:nvSpPr>
        <p:spPr>
          <a:xfrm>
            <a:off x="457200"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WHO</a:t>
            </a:r>
            <a:endParaRPr lang="en-US" sz="1500" dirty="0"/>
          </a:p>
        </p:txBody>
      </p:sp>
      <p:sp>
        <p:nvSpPr>
          <p:cNvPr id="7" name="Text 5"/>
          <p:cNvSpPr/>
          <p:nvPr/>
        </p:nvSpPr>
        <p:spPr>
          <a:xfrm>
            <a:off x="594360"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Author: Moses</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Audience: the redeemed nation of Israel at the edge of the Promised Land</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people emerge through the narrative of Babel &amp; Abraham.</a:t>
            </a:r>
            <a:endParaRPr lang="en-US" sz="1050" dirty="0"/>
          </a:p>
        </p:txBody>
      </p:sp>
      <p:sp>
        <p:nvSpPr>
          <p:cNvPr id="8" name="Shape 6"/>
          <p:cNvSpPr/>
          <p:nvPr/>
        </p:nvSpPr>
        <p:spPr>
          <a:xfrm>
            <a:off x="3209544" y="914400"/>
            <a:ext cx="2679192" cy="2194560"/>
          </a:xfrm>
          <a:prstGeom prst="roundRect">
            <a:avLst>
              <a:gd name="adj" fmla="val 2500"/>
            </a:avLst>
          </a:prstGeom>
          <a:solidFill>
            <a:srgbClr val="1D2B1F"/>
          </a:solidFill>
          <a:ln w="12700">
            <a:solidFill>
              <a:srgbClr val="B89442"/>
            </a:solidFill>
            <a:prstDash val="solid"/>
          </a:ln>
        </p:spPr>
      </p:sp>
      <p:sp>
        <p:nvSpPr>
          <p:cNvPr id="9" name="Text 7"/>
          <p:cNvSpPr/>
          <p:nvPr/>
        </p:nvSpPr>
        <p:spPr>
          <a:xfrm>
            <a:off x="3209544"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WHAT</a:t>
            </a:r>
            <a:endParaRPr lang="en-US" sz="1500" dirty="0"/>
          </a:p>
        </p:txBody>
      </p:sp>
      <p:sp>
        <p:nvSpPr>
          <p:cNvPr id="10" name="Text 8"/>
          <p:cNvSpPr/>
          <p:nvPr/>
        </p:nvSpPr>
        <p:spPr>
          <a:xfrm>
            <a:off x="3346704"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Key theme: Beginnings — God creates, mankind falls, and grace begins its long march toward a Redeemer.</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structure: Genesis 19:1-25:18.</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Key doctrine: the character and saving purpose of God.</a:t>
            </a:r>
            <a:endParaRPr lang="en-US" sz="1050" dirty="0"/>
          </a:p>
        </p:txBody>
      </p:sp>
      <p:sp>
        <p:nvSpPr>
          <p:cNvPr id="11" name="Shape 9"/>
          <p:cNvSpPr/>
          <p:nvPr/>
        </p:nvSpPr>
        <p:spPr>
          <a:xfrm>
            <a:off x="5961888" y="914400"/>
            <a:ext cx="2679192" cy="2194560"/>
          </a:xfrm>
          <a:prstGeom prst="roundRect">
            <a:avLst>
              <a:gd name="adj" fmla="val 2500"/>
            </a:avLst>
          </a:prstGeom>
          <a:solidFill>
            <a:srgbClr val="1D2B1F"/>
          </a:solidFill>
          <a:ln w="12700">
            <a:solidFill>
              <a:srgbClr val="B89442"/>
            </a:solidFill>
            <a:prstDash val="solid"/>
          </a:ln>
        </p:spPr>
      </p:sp>
      <p:sp>
        <p:nvSpPr>
          <p:cNvPr id="12" name="Text 10"/>
          <p:cNvSpPr/>
          <p:nvPr/>
        </p:nvSpPr>
        <p:spPr>
          <a:xfrm>
            <a:off x="5961888" y="1005840"/>
            <a:ext cx="2679192" cy="365760"/>
          </a:xfrm>
          <a:prstGeom prst="rect">
            <a:avLst/>
          </a:prstGeom>
          <a:noFill/>
          <a:ln/>
        </p:spPr>
        <p:txBody>
          <a:bodyPr wrap="square" rtlCol="0" anchor="ctr"/>
          <a:lstStyle/>
          <a:p>
            <a:pPr algn="ctr" indent="0" marL="0">
              <a:buNone/>
            </a:pPr>
            <a:r>
              <a:rPr lang="en-US" sz="1500" b="1" dirty="0">
                <a:solidFill>
                  <a:srgbClr val="B89442"/>
                </a:solidFill>
                <a:latin typeface="Calibri" pitchFamily="34" charset="0"/>
                <a:ea typeface="Calibri" pitchFamily="34" charset="-122"/>
                <a:cs typeface="Calibri" pitchFamily="34" charset="-120"/>
              </a:rPr>
              <a:t>WHEN</a:t>
            </a:r>
            <a:endParaRPr lang="en-US" sz="1500" dirty="0"/>
          </a:p>
        </p:txBody>
      </p:sp>
      <p:sp>
        <p:nvSpPr>
          <p:cNvPr id="13" name="Text 11"/>
          <p:cNvSpPr/>
          <p:nvPr/>
        </p:nvSpPr>
        <p:spPr>
          <a:xfrm>
            <a:off x="6099048" y="1417320"/>
            <a:ext cx="2404872" cy="1600200"/>
          </a:xfrm>
          <a:prstGeom prst="rect">
            <a:avLst/>
          </a:prstGeom>
          <a:noFill/>
          <a:ln/>
        </p:spPr>
        <p:txBody>
          <a:bodyPr wrap="square" rtlCol="0" anchor="t"/>
          <a:lstStyle/>
          <a:p>
            <a:pPr indent="0" marL="0">
              <a:buNone/>
            </a:pPr>
            <a:r>
              <a:rPr lang="en-US" sz="1050" dirty="0">
                <a:solidFill>
                  <a:srgbClr val="F0E6CC"/>
                </a:solidFill>
                <a:latin typeface="Calibri" pitchFamily="34" charset="0"/>
                <a:ea typeface="Calibri" pitchFamily="34" charset="-122"/>
                <a:cs typeface="Calibri" pitchFamily="34" charset="-120"/>
              </a:rPr>
              <a:t>Date: c. 1446-1406 BC.</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Stage: Abraham / Promise.</a:t>
            </a:r>
            <a:endParaRPr lang="en-US" sz="1050" dirty="0"/>
          </a:p>
          <a:p>
            <a:pPr indent="0" marL="0">
              <a:buNone/>
            </a:pPr>
            <a:r>
              <a:rPr lang="en-US" sz="1050" dirty="0">
                <a:solidFill>
                  <a:srgbClr val="F0E6CC"/>
                </a:solidFill>
                <a:latin typeface="Calibri" pitchFamily="34" charset="0"/>
                <a:ea typeface="Calibri" pitchFamily="34" charset="-122"/>
                <a:cs typeface="Calibri" pitchFamily="34" charset="-120"/>
              </a:rPr>
              <a:t>Context: the redeemed nation of Israel at the edge of the Promised Land.</a:t>
            </a:r>
            <a:endParaRPr lang="en-US" sz="1050" dirty="0"/>
          </a:p>
        </p:txBody>
      </p:sp>
      <p:sp>
        <p:nvSpPr>
          <p:cNvPr id="14" name="Shape 12"/>
          <p:cNvSpPr/>
          <p:nvPr/>
        </p:nvSpPr>
        <p:spPr>
          <a:xfrm>
            <a:off x="457200" y="3246120"/>
            <a:ext cx="8229600" cy="1417320"/>
          </a:xfrm>
          <a:prstGeom prst="roundRect">
            <a:avLst>
              <a:gd name="adj" fmla="val 3871"/>
            </a:avLst>
          </a:prstGeom>
          <a:solidFill>
            <a:srgbClr val="29372B"/>
          </a:solidFill>
          <a:ln w="12700">
            <a:solidFill>
              <a:srgbClr val="29372B"/>
            </a:solidFill>
            <a:prstDash val="solid"/>
          </a:ln>
        </p:spPr>
      </p:sp>
      <p:sp>
        <p:nvSpPr>
          <p:cNvPr id="15" name="Text 13"/>
          <p:cNvSpPr/>
          <p:nvPr/>
        </p:nvSpPr>
        <p:spPr>
          <a:xfrm>
            <a:off x="640080" y="3310128"/>
            <a:ext cx="7863840" cy="1298448"/>
          </a:xfrm>
          <a:prstGeom prst="rect">
            <a:avLst/>
          </a:prstGeom>
          <a:noFill/>
          <a:ln/>
        </p:spPr>
        <p:txBody>
          <a:bodyPr wrap="square" rtlCol="0" anchor="t"/>
          <a:lstStyle/>
          <a:p>
            <a:pPr indent="0" marL="0">
              <a:lnSpc>
                <a:spcPct val="100000"/>
              </a:lnSpc>
              <a:buNone/>
            </a:pPr>
            <a:r>
              <a:rPr lang="en-US" sz="850" b="1" dirty="0">
                <a:solidFill>
                  <a:srgbClr val="B89442"/>
                </a:solidFill>
                <a:latin typeface="Calibri" pitchFamily="34" charset="0"/>
                <a:ea typeface="Calibri" pitchFamily="34" charset="-122"/>
                <a:cs typeface="Calibri" pitchFamily="34" charset="-120"/>
              </a:rPr>
              <a:t>BIBLE TRIAGE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BLACK TAG — Primary: The character and authority of God revealed here is non-negotiable. Beginnings — God creates, mankind falls, and grace begins its long march toward a Redeemer stands on who God is. Die on this hill.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RED TAG — Secondary: How a local church orders its life around this truth (worship, leadership, practice) is worth careful conviction, but it shapes church family rather than salvation.
</a:t>
            </a:r>
            <a:pPr indent="0" marL="0">
              <a:lnSpc>
                <a:spcPct val="100000"/>
              </a:lnSpc>
              <a:buNone/>
            </a:pPr>
            <a:r>
              <a:rPr lang="en-US" sz="850" dirty="0">
                <a:solidFill>
                  <a:srgbClr val="F0E6CC"/>
                </a:solidFill>
                <a:latin typeface="Calibri" pitchFamily="34" charset="0"/>
                <a:ea typeface="Calibri" pitchFamily="34" charset="-122"/>
                <a:cs typeface="Calibri" pitchFamily="34" charset="-120"/>
              </a:rPr>
              <a:t>YELLOW/GREEN TAG — Tertiary: Timing details, cultural specifics, and disputed minor points here are worth exploring with an open hand. Study them; don't divide over them.</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THEN · OBSERVE</a:t>
            </a:r>
            <a:endParaRPr lang="en-US" sz="2200" dirty="0"/>
          </a:p>
        </p:txBody>
      </p:sp>
      <p:sp>
        <p:nvSpPr>
          <p:cNvPr id="5" name="Shape 3"/>
          <p:cNvSpPr/>
          <p:nvPr/>
        </p:nvSpPr>
        <p:spPr>
          <a:xfrm>
            <a:off x="457200" y="868680"/>
            <a:ext cx="8229600" cy="3749040"/>
          </a:xfrm>
          <a:prstGeom prst="roundRect">
            <a:avLst>
              <a:gd name="adj" fmla="val 1463"/>
            </a:avLst>
          </a:prstGeom>
          <a:solidFill>
            <a:srgbClr val="1D2B1F"/>
          </a:solidFill>
          <a:ln w="12700">
            <a:solidFill>
              <a:srgbClr val="1D2B1F"/>
            </a:solidFill>
            <a:prstDash val="solid"/>
          </a:ln>
        </p:spPr>
      </p:sp>
      <p:sp>
        <p:nvSpPr>
          <p:cNvPr id="6" name="Text 4"/>
          <p:cNvSpPr/>
          <p:nvPr/>
        </p:nvSpPr>
        <p:spPr>
          <a:xfrm>
            <a:off x="731520" y="960120"/>
            <a:ext cx="7680960" cy="3566160"/>
          </a:xfrm>
          <a:prstGeom prst="rect">
            <a:avLst/>
          </a:prstGeom>
          <a:noFill/>
          <a:ln/>
        </p:spPr>
        <p:txBody>
          <a:bodyPr wrap="square" rtlCol="0" anchor="t"/>
          <a:lstStyle/>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THE TEXT ITSELF: Read Genesis 19:1-25:18 slowly. Notice God is the acting subject — He initiates before anyone responds. Write this down: grace always moves first.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STRUCTURE: This passage is built with intention, not accident. Mark the repeated words and the turning point — the Holy Spirit underlines what matters most.</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Leaders of the conservative movement note that Genesis must be read in its covenant context, not lifted out as isolated proverbs. The whole book argues one case: beginnings — God creates, mankind falls, and grace begins its long march toward a Redeemer.</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Conservative scholars observe that the original audience — the redeemed nation of Israel at the edge of the Promised Land — heard this as a word for their crisis, not a timeless abstraction. Get the THEN right and the TODAY lands true.</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Watch the contrast between human failure and divine faithfulness. The people stumble; God does not. [LINK: John 1:1-3]</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Look at what God is doing here: He is not merely correcting behavior, He is forming a people for His own glory. [LINK: Romans 5:12-21]</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Here's the thing — this passage refuses to leave you neutral. It diagnoses the heart and then offers the only cure. [LINK: Galatians 3:16]</a:t>
            </a:r>
            <a:endParaRPr lang="en-US" sz="1050" dirty="0"/>
          </a:p>
          <a:p>
            <a:pPr marL="342900" indent="-342900">
              <a:lnSpc>
                <a:spcPct val="102000"/>
              </a:lnSpc>
              <a:spcAft>
                <a:spcPts val="400"/>
              </a:spcAft>
              <a:buSzPct val="100000"/>
              <a:buChar char="•"/>
            </a:pPr>
            <a:r>
              <a:rPr lang="en-US" sz="1050" dirty="0">
                <a:solidFill>
                  <a:srgbClr val="F0E6CC"/>
                </a:solidFill>
                <a:latin typeface="Calibri" pitchFamily="34" charset="0"/>
                <a:ea typeface="Calibri" pitchFamily="34" charset="-122"/>
                <a:cs typeface="Calibri" pitchFamily="34" charset="-120"/>
              </a:rPr>
              <a:t>Every detail is a step off the beach and into the interior. This is the map: beginnings — God creates, mankind falls, and grace begins its long march toward a Redeemer.</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DIAGNOSIS (Q1-Q4)</a:t>
            </a:r>
            <a:endParaRPr lang="en-US" sz="2200" dirty="0"/>
          </a:p>
        </p:txBody>
      </p:sp>
      <p:sp>
        <p:nvSpPr>
          <p:cNvPr id="5" name="Shape 3"/>
          <p:cNvSpPr/>
          <p:nvPr/>
        </p:nvSpPr>
        <p:spPr>
          <a:xfrm>
            <a:off x="457200" y="868680"/>
            <a:ext cx="8229600" cy="1051560"/>
          </a:xfrm>
          <a:prstGeom prst="roundRect">
            <a:avLst>
              <a:gd name="adj" fmla="val 5217"/>
            </a:avLst>
          </a:prstGeom>
          <a:solidFill>
            <a:srgbClr val="29372B"/>
          </a:solidFill>
          <a:ln w="12700">
            <a:solidFill>
              <a:srgbClr val="B89442"/>
            </a:solidFill>
            <a:prstDash val="solid"/>
          </a:ln>
        </p:spPr>
      </p:sp>
      <p:sp>
        <p:nvSpPr>
          <p:cNvPr id="6" name="Text 4"/>
          <p:cNvSpPr/>
          <p:nvPr/>
        </p:nvSpPr>
        <p:spPr>
          <a:xfrm>
            <a:off x="685800" y="932688"/>
            <a:ext cx="7772400" cy="914400"/>
          </a:xfrm>
          <a:prstGeom prst="rect">
            <a:avLst/>
          </a:prstGeom>
          <a:noFill/>
          <a:ln/>
        </p:spPr>
        <p:txBody>
          <a:bodyPr wrap="square" rtlCol="0" anchor="ctr"/>
          <a:lstStyle/>
          <a:p>
            <a:pPr indent="0" marL="0">
              <a:buNone/>
            </a:pPr>
            <a:r>
              <a:rPr lang="en-US" sz="1200" b="1" dirty="0">
                <a:solidFill>
                  <a:srgbClr val="F0E6CC"/>
                </a:solidFill>
                <a:latin typeface="Calibri" pitchFamily="34" charset="0"/>
                <a:ea typeface="Calibri" pitchFamily="34" charset="-122"/>
                <a:cs typeface="Calibri" pitchFamily="34" charset="-120"/>
              </a:rPr>
              <a:t>FALLEN CONDITION FOCUS: This passage exposes our tendency to settle on the beach of easy religion when God is calling us into the deep.</a:t>
            </a:r>
            <a:endParaRPr lang="en-US" sz="1200" dirty="0"/>
          </a:p>
        </p:txBody>
      </p:sp>
      <p:sp>
        <p:nvSpPr>
          <p:cNvPr id="7" name="Shape 5"/>
          <p:cNvSpPr/>
          <p:nvPr/>
        </p:nvSpPr>
        <p:spPr>
          <a:xfrm>
            <a:off x="457200" y="2057400"/>
            <a:ext cx="8229600" cy="2560320"/>
          </a:xfrm>
          <a:prstGeom prst="roundRect">
            <a:avLst>
              <a:gd name="adj" fmla="val 2143"/>
            </a:avLst>
          </a:prstGeom>
          <a:solidFill>
            <a:srgbClr val="1D2B1F"/>
          </a:solidFill>
          <a:ln w="12700">
            <a:solidFill>
              <a:srgbClr val="1D2B1F"/>
            </a:solidFill>
            <a:prstDash val="solid"/>
          </a:ln>
        </p:spPr>
      </p:sp>
      <p:sp>
        <p:nvSpPr>
          <p:cNvPr id="8" name="Text 6"/>
          <p:cNvSpPr/>
          <p:nvPr/>
        </p:nvSpPr>
        <p:spPr>
          <a:xfrm>
            <a:off x="731520" y="2194560"/>
            <a:ext cx="7680960" cy="2286000"/>
          </a:xfrm>
          <a:prstGeom prst="rect">
            <a:avLst/>
          </a:prstGeom>
          <a:noFill/>
          <a:ln/>
        </p:spPr>
        <p:txBody>
          <a:bodyPr wrap="square" rtlCol="0" anchor="t"/>
          <a:lstStyle/>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Q1. Where in babel &amp; abraham do you see your own heart described — not someone else's?</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Q2. What does this passage say is true about God that, if you really believed it on Monday morning, would change how you live?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Q3. Be specific: name one place this week where you have been living as if this text were not true.</a:t>
            </a:r>
            <a:endParaRPr lang="en-US" sz="1300" dirty="0"/>
          </a:p>
          <a:p>
            <a:pPr indent="0" marL="0">
              <a:spcAft>
                <a:spcPts val="800"/>
              </a:spcAft>
              <a:buNone/>
            </a:pPr>
            <a:r>
              <a:rPr lang="en-US" sz="1300" dirty="0">
                <a:solidFill>
                  <a:srgbClr val="F0E6CC"/>
                </a:solidFill>
                <a:latin typeface="Calibri" pitchFamily="34" charset="0"/>
                <a:ea typeface="Calibri" pitchFamily="34" charset="-122"/>
                <a:cs typeface="Calibri" pitchFamily="34" charset="-120"/>
              </a:rPr>
              <a:t>Q4. What would repentance actually look like here — not in theory, but in your calendar, your wallet, your words?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TODAY · Q5 + CHALLENGE</a:t>
            </a:r>
            <a:endParaRPr lang="en-US" sz="2200" dirty="0"/>
          </a:p>
        </p:txBody>
      </p:sp>
      <p:sp>
        <p:nvSpPr>
          <p:cNvPr id="5" name="Shape 3"/>
          <p:cNvSpPr/>
          <p:nvPr/>
        </p:nvSpPr>
        <p:spPr>
          <a:xfrm>
            <a:off x="457200" y="868680"/>
            <a:ext cx="8229600" cy="914400"/>
          </a:xfrm>
          <a:prstGeom prst="roundRect">
            <a:avLst>
              <a:gd name="adj" fmla="val 6000"/>
            </a:avLst>
          </a:prstGeom>
          <a:solidFill>
            <a:srgbClr val="29372B"/>
          </a:solidFill>
          <a:ln w="12700">
            <a:solidFill>
              <a:srgbClr val="B89442"/>
            </a:solidFill>
            <a:prstDash val="solid"/>
          </a:ln>
        </p:spPr>
      </p:sp>
      <p:sp>
        <p:nvSpPr>
          <p:cNvPr id="6" name="Text 4"/>
          <p:cNvSpPr/>
          <p:nvPr/>
        </p:nvSpPr>
        <p:spPr>
          <a:xfrm>
            <a:off x="685800" y="914400"/>
            <a:ext cx="7772400" cy="822960"/>
          </a:xfrm>
          <a:prstGeom prst="rect">
            <a:avLst/>
          </a:prstGeom>
          <a:noFill/>
          <a:ln/>
        </p:spPr>
        <p:txBody>
          <a:bodyPr wrap="square" rtlCol="0" anchor="ctr"/>
          <a:lstStyle/>
          <a:p>
            <a:pPr indent="0" marL="0">
              <a:buNone/>
            </a:pPr>
            <a:r>
              <a:rPr lang="en-US" sz="1250" b="1" dirty="0">
                <a:solidFill>
                  <a:srgbClr val="F0E6CC"/>
                </a:solidFill>
                <a:latin typeface="Calibri" pitchFamily="34" charset="0"/>
                <a:ea typeface="Calibri" pitchFamily="34" charset="-122"/>
                <a:cs typeface="Calibri" pitchFamily="34" charset="-120"/>
              </a:rPr>
              <a:t>Q5 — PROCLAMATION: Who in your life needs to hear what Genesis Babel &amp; Abraham reveals about God, and what is keeping you from telling them this week?</a:t>
            </a:r>
            <a:endParaRPr lang="en-US" sz="1250" dirty="0"/>
          </a:p>
        </p:txBody>
      </p:sp>
      <p:sp>
        <p:nvSpPr>
          <p:cNvPr id="7" name="Text 5"/>
          <p:cNvSpPr/>
          <p:nvPr/>
        </p:nvSpPr>
        <p:spPr>
          <a:xfrm>
            <a:off x="548640" y="1874520"/>
            <a:ext cx="8046720" cy="91440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Here's the thing: a truth this big was never meant to die in a notebook. Beginnings — God creates, mankind falls, and grace begins its long march toward a Redeemer — that is news, and news is for sharing. You don't have to be a scholar. You just have to point at the map and say, "Come and see."</a:t>
            </a:r>
            <a:endParaRPr lang="en-US" sz="1150" dirty="0"/>
          </a:p>
        </p:txBody>
      </p:sp>
      <p:sp>
        <p:nvSpPr>
          <p:cNvPr id="8" name="Shape 6"/>
          <p:cNvSpPr/>
          <p:nvPr/>
        </p:nvSpPr>
        <p:spPr>
          <a:xfrm>
            <a:off x="457200" y="2880360"/>
            <a:ext cx="8229600" cy="1737360"/>
          </a:xfrm>
          <a:prstGeom prst="roundRect">
            <a:avLst>
              <a:gd name="adj" fmla="val 3158"/>
            </a:avLst>
          </a:prstGeom>
          <a:solidFill>
            <a:srgbClr val="1D2B1F"/>
          </a:solidFill>
          <a:ln w="12700">
            <a:solidFill>
              <a:srgbClr val="B89442"/>
            </a:solidFill>
            <a:prstDash val="solid"/>
          </a:ln>
        </p:spPr>
      </p:sp>
      <p:sp>
        <p:nvSpPr>
          <p:cNvPr id="9" name="Text 7"/>
          <p:cNvSpPr/>
          <p:nvPr/>
        </p:nvSpPr>
        <p:spPr>
          <a:xfrm>
            <a:off x="685800" y="2971800"/>
            <a:ext cx="7772400" cy="1554480"/>
          </a:xfrm>
          <a:prstGeom prst="rect">
            <a:avLst/>
          </a:prstGeom>
          <a:noFill/>
          <a:ln/>
        </p:spPr>
        <p:txBody>
          <a:bodyPr wrap="square" rtlCol="0" anchor="t"/>
          <a:lstStyle/>
          <a:p>
            <a:pPr indent="0" marL="0">
              <a:buNone/>
            </a:pPr>
            <a:r>
              <a:rPr lang="en-US" sz="1150" dirty="0">
                <a:solidFill>
                  <a:srgbClr val="F0E6CC"/>
                </a:solidFill>
                <a:latin typeface="Calibri" pitchFamily="34" charset="0"/>
                <a:ea typeface="Calibri" pitchFamily="34" charset="-122"/>
                <a:cs typeface="Calibri" pitchFamily="34" charset="-120"/>
              </a:rPr>
              <a:t>CHALLENGE: This week, get off the beach. Take one concrete step into the interior of God's character that this lesson opened up — and take one person with you. Don't miss this: every trail in Genesis runs to the same summit. The God who acts in this passage is the God who put on flesh, went to a cross, and walked out of a tomb so that you could be His. [LINK: John 1:1-3] That is where this ends. That is where it always ends — at Jesus.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2200" b="1" dirty="0">
                <a:solidFill>
                  <a:srgbClr val="F0E6CC"/>
                </a:solidFill>
                <a:latin typeface="Georgia" pitchFamily="34" charset="0"/>
                <a:ea typeface="Georgia" pitchFamily="34" charset="-122"/>
                <a:cs typeface="Georgia" pitchFamily="34" charset="-120"/>
              </a:rPr>
              <a:t>TOMORROW · THE GOSPEL THREAD</a:t>
            </a:r>
            <a:endParaRPr lang="en-US" sz="2200" dirty="0"/>
          </a:p>
        </p:txBody>
      </p:sp>
      <p:sp>
        <p:nvSpPr>
          <p:cNvPr id="5" name="Shape 3"/>
          <p:cNvSpPr/>
          <p:nvPr/>
        </p:nvSpPr>
        <p:spPr>
          <a:xfrm>
            <a:off x="457200" y="914400"/>
            <a:ext cx="4023360" cy="1463040"/>
          </a:xfrm>
          <a:prstGeom prst="roundRect">
            <a:avLst>
              <a:gd name="adj" fmla="val 3750"/>
            </a:avLst>
          </a:prstGeom>
          <a:solidFill>
            <a:srgbClr val="1D2B1F"/>
          </a:solidFill>
          <a:ln w="12700">
            <a:solidFill>
              <a:srgbClr val="B89442"/>
            </a:solidFill>
            <a:prstDash val="solid"/>
          </a:ln>
        </p:spPr>
      </p:sp>
      <p:sp>
        <p:nvSpPr>
          <p:cNvPr id="6" name="Text 4"/>
          <p:cNvSpPr/>
          <p:nvPr/>
        </p:nvSpPr>
        <p:spPr>
          <a:xfrm>
            <a:off x="59436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PROMISE OPENED
</a:t>
            </a:r>
            <a:pPr indent="0" marL="0">
              <a:buNone/>
            </a:pPr>
            <a:r>
              <a:rPr lang="en-US" sz="1000" dirty="0">
                <a:solidFill>
                  <a:srgbClr val="F0E6CC"/>
                </a:solidFill>
                <a:latin typeface="Calibri" pitchFamily="34" charset="0"/>
                <a:ea typeface="Calibri" pitchFamily="34" charset="-122"/>
                <a:cs typeface="Calibri" pitchFamily="34" charset="-120"/>
              </a:rPr>
              <a:t>Genesis does not stand alone. It is a thread in one tapestry, and the tapestry is Christ. What is begun here strains forward toward the One who fulfills it. [LINK: John 1:1-3]</a:t>
            </a:r>
            <a:endParaRPr lang="en-US" sz="1200" dirty="0"/>
          </a:p>
        </p:txBody>
      </p:sp>
      <p:sp>
        <p:nvSpPr>
          <p:cNvPr id="7" name="Shape 5"/>
          <p:cNvSpPr/>
          <p:nvPr/>
        </p:nvSpPr>
        <p:spPr>
          <a:xfrm>
            <a:off x="4663440" y="914400"/>
            <a:ext cx="4023360" cy="1463040"/>
          </a:xfrm>
          <a:prstGeom prst="roundRect">
            <a:avLst>
              <a:gd name="adj" fmla="val 3750"/>
            </a:avLst>
          </a:prstGeom>
          <a:solidFill>
            <a:srgbClr val="1D2B1F"/>
          </a:solidFill>
          <a:ln w="12700">
            <a:solidFill>
              <a:srgbClr val="B89442"/>
            </a:solidFill>
            <a:prstDash val="solid"/>
          </a:ln>
        </p:spPr>
      </p:sp>
      <p:sp>
        <p:nvSpPr>
          <p:cNvPr id="8" name="Text 6"/>
          <p:cNvSpPr/>
          <p:nvPr/>
        </p:nvSpPr>
        <p:spPr>
          <a:xfrm>
            <a:off x="4800600" y="10058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NEED EXPOSED
</a:t>
            </a:r>
            <a:pPr indent="0" marL="0">
              <a:buNone/>
            </a:pPr>
            <a:r>
              <a:rPr lang="en-US" sz="1000" dirty="0">
                <a:solidFill>
                  <a:srgbClr val="F0E6CC"/>
                </a:solidFill>
                <a:latin typeface="Calibri" pitchFamily="34" charset="0"/>
                <a:ea typeface="Calibri" pitchFamily="34" charset="-122"/>
                <a:cs typeface="Calibri" pitchFamily="34" charset="-120"/>
              </a:rPr>
              <a:t>This passage shows us a gap no human effort can close — between a holy God and an unholy people. That gap is the silhouette of a cross. The diagnosis here is precisely the wound the gospel heals.</a:t>
            </a:r>
            <a:endParaRPr lang="en-US" sz="1200" dirty="0"/>
          </a:p>
        </p:txBody>
      </p:sp>
      <p:sp>
        <p:nvSpPr>
          <p:cNvPr id="9" name="Shape 7"/>
          <p:cNvSpPr/>
          <p:nvPr/>
        </p:nvSpPr>
        <p:spPr>
          <a:xfrm>
            <a:off x="457200" y="2514600"/>
            <a:ext cx="4023360" cy="1463040"/>
          </a:xfrm>
          <a:prstGeom prst="roundRect">
            <a:avLst>
              <a:gd name="adj" fmla="val 3750"/>
            </a:avLst>
          </a:prstGeom>
          <a:solidFill>
            <a:srgbClr val="1D2B1F"/>
          </a:solidFill>
          <a:ln w="12700">
            <a:solidFill>
              <a:srgbClr val="B89442"/>
            </a:solidFill>
            <a:prstDash val="solid"/>
          </a:ln>
        </p:spPr>
      </p:sp>
      <p:sp>
        <p:nvSpPr>
          <p:cNvPr id="10" name="Text 8"/>
          <p:cNvSpPr/>
          <p:nvPr/>
        </p:nvSpPr>
        <p:spPr>
          <a:xfrm>
            <a:off x="59436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SHADOW AND THE SUBSTANCE
</a:t>
            </a:r>
            <a:pPr indent="0" marL="0">
              <a:buNone/>
            </a:pPr>
            <a:r>
              <a:rPr lang="en-US" sz="1000" dirty="0">
                <a:solidFill>
                  <a:srgbClr val="F0E6CC"/>
                </a:solidFill>
                <a:latin typeface="Calibri" pitchFamily="34" charset="0"/>
                <a:ea typeface="Calibri" pitchFamily="34" charset="-122"/>
                <a:cs typeface="Calibri" pitchFamily="34" charset="-120"/>
              </a:rPr>
              <a:t>Conservative scholars observe that the patterns here — covenant, sacrifice, kingship, deliverance — are shadows cast backward by Jesus. See the shadow, then look up and find the One casting it. [LINK: Romans 5:12-21]</a:t>
            </a:r>
            <a:endParaRPr lang="en-US" sz="1200" dirty="0"/>
          </a:p>
        </p:txBody>
      </p:sp>
      <p:sp>
        <p:nvSpPr>
          <p:cNvPr id="11" name="Shape 9"/>
          <p:cNvSpPr/>
          <p:nvPr/>
        </p:nvSpPr>
        <p:spPr>
          <a:xfrm>
            <a:off x="4663440" y="2514600"/>
            <a:ext cx="4023360" cy="1463040"/>
          </a:xfrm>
          <a:prstGeom prst="roundRect">
            <a:avLst>
              <a:gd name="adj" fmla="val 3750"/>
            </a:avLst>
          </a:prstGeom>
          <a:solidFill>
            <a:srgbClr val="1D2B1F"/>
          </a:solidFill>
          <a:ln w="12700">
            <a:solidFill>
              <a:srgbClr val="B89442"/>
            </a:solidFill>
            <a:prstDash val="solid"/>
          </a:ln>
        </p:spPr>
      </p:sp>
      <p:sp>
        <p:nvSpPr>
          <p:cNvPr id="12" name="Text 10"/>
          <p:cNvSpPr/>
          <p:nvPr/>
        </p:nvSpPr>
        <p:spPr>
          <a:xfrm>
            <a:off x="4800600" y="2606040"/>
            <a:ext cx="3749040" cy="1280160"/>
          </a:xfrm>
          <a:prstGeom prst="rect">
            <a:avLst/>
          </a:prstGeom>
          <a:noFill/>
          <a:ln/>
        </p:spPr>
        <p:txBody>
          <a:bodyPr wrap="square" rtlCol="0" anchor="t"/>
          <a:lstStyle/>
          <a:p>
            <a:pPr indent="0" marL="0">
              <a:buNone/>
            </a:pPr>
            <a:r>
              <a:rPr lang="en-US" sz="1200" b="1" dirty="0">
                <a:solidFill>
                  <a:srgbClr val="B89442"/>
                </a:solidFill>
                <a:latin typeface="Calibri" pitchFamily="34" charset="0"/>
                <a:ea typeface="Calibri" pitchFamily="34" charset="-122"/>
                <a:cs typeface="Calibri" pitchFamily="34" charset="-120"/>
              </a:rPr>
              <a:t>THE SUMMIT
</a:t>
            </a:r>
            <a:pPr indent="0" marL="0">
              <a:buNone/>
            </a:pPr>
            <a:r>
              <a:rPr lang="en-US" sz="1000" dirty="0">
                <a:solidFill>
                  <a:srgbClr val="F0E6CC"/>
                </a:solidFill>
                <a:latin typeface="Calibri" pitchFamily="34" charset="0"/>
                <a:ea typeface="Calibri" pitchFamily="34" charset="-122"/>
                <a:cs typeface="Calibri" pitchFamily="34" charset="-120"/>
              </a:rPr>
              <a:t>Every trail leads to the same summit. Babel &amp; Abraham lifts our eyes from history, through our own hearts, to the risen Christ who reigns now and is coming again. [LINK: Galatians 3:16]</a:t>
            </a:r>
            <a:endParaRPr lang="en-US" sz="1200" dirty="0"/>
          </a:p>
        </p:txBody>
      </p:sp>
      <p:sp>
        <p:nvSpPr>
          <p:cNvPr id="13" name="Text 11"/>
          <p:cNvSpPr/>
          <p:nvPr/>
        </p:nvSpPr>
        <p:spPr>
          <a:xfrm>
            <a:off x="457200" y="4251960"/>
            <a:ext cx="8229600" cy="365760"/>
          </a:xfrm>
          <a:prstGeom prst="rect">
            <a:avLst/>
          </a:prstGeom>
          <a:noFill/>
          <a:ln/>
        </p:spPr>
        <p:txBody>
          <a:bodyPr wrap="square" rtlCol="0" anchor="ctr"/>
          <a:lstStyle/>
          <a:p>
            <a:pPr indent="0" marL="0">
              <a:buNone/>
            </a:pPr>
            <a:r>
              <a:rPr lang="en-US" sz="900" i="1" dirty="0">
                <a:solidFill>
                  <a:srgbClr val="B89442"/>
                </a:solidFill>
                <a:latin typeface="Calibri" pitchFamily="34" charset="0"/>
                <a:ea typeface="Calibri" pitchFamily="34" charset="-122"/>
                <a:cs typeface="Calibri" pitchFamily="34" charset="-120"/>
              </a:rPr>
              <a:t>Cross-references: [LINK: John 1:1-3]  [LINK: Romans 5:12-21]  [LINK: Galatians 3:16]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0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B89442"/>
          </a:solidFill>
          <a:ln/>
        </p:spPr>
      </p:sp>
      <p:sp>
        <p:nvSpPr>
          <p:cNvPr id="3" name="Text 1"/>
          <p:cNvSpPr/>
          <p:nvPr/>
        </p:nvSpPr>
        <p:spPr>
          <a:xfrm>
            <a:off x="164592" y="4828032"/>
            <a:ext cx="1371600" cy="228600"/>
          </a:xfrm>
          <a:prstGeom prst="rect">
            <a:avLst/>
          </a:prstGeom>
          <a:noFill/>
          <a:ln/>
        </p:spPr>
        <p:txBody>
          <a:bodyPr wrap="square" rtlCol="0" anchor="ctr"/>
          <a:lstStyle/>
          <a:p>
            <a:pPr algn="l" indent="0" marL="0">
              <a:buNone/>
            </a:pPr>
            <a:r>
              <a:rPr lang="en-US" sz="900" b="1" spc="300" kern="0" dirty="0">
                <a:solidFill>
                  <a:srgbClr val="B89442"/>
                </a:solidFill>
                <a:latin typeface="Calibri" pitchFamily="34" charset="0"/>
                <a:ea typeface="Calibri" pitchFamily="34" charset="-122"/>
                <a:cs typeface="Calibri" pitchFamily="34" charset="-120"/>
              </a:rPr>
              <a:t>NETPRAISE</a:t>
            </a:r>
            <a:endParaRPr lang="en-US" sz="900" dirty="0"/>
          </a:p>
        </p:txBody>
      </p:sp>
      <p:sp>
        <p:nvSpPr>
          <p:cNvPr id="4" name="Text 2"/>
          <p:cNvSpPr/>
          <p:nvPr/>
        </p:nvSpPr>
        <p:spPr>
          <a:xfrm>
            <a:off x="457200" y="274320"/>
            <a:ext cx="8229600" cy="457200"/>
          </a:xfrm>
          <a:prstGeom prst="rect">
            <a:avLst/>
          </a:prstGeom>
          <a:noFill/>
          <a:ln/>
        </p:spPr>
        <p:txBody>
          <a:bodyPr wrap="square" rtlCol="0" anchor="ctr"/>
          <a:lstStyle/>
          <a:p>
            <a:pPr indent="0" marL="0">
              <a:buNone/>
            </a:pPr>
            <a:r>
              <a:rPr lang="en-US" sz="1800" b="1" spc="200" kern="0" dirty="0">
                <a:solidFill>
                  <a:srgbClr val="B89442"/>
                </a:solidFill>
                <a:latin typeface="Calibri" pitchFamily="34" charset="0"/>
                <a:ea typeface="Calibri" pitchFamily="34" charset="-122"/>
                <a:cs typeface="Calibri" pitchFamily="34" charset="-120"/>
              </a:rPr>
              <a:t>MEMORY VERSE</a:t>
            </a:r>
            <a:endParaRPr lang="en-US" sz="1800" dirty="0"/>
          </a:p>
        </p:txBody>
      </p:sp>
      <p:sp>
        <p:nvSpPr>
          <p:cNvPr id="5" name="Shape 3"/>
          <p:cNvSpPr/>
          <p:nvPr/>
        </p:nvSpPr>
        <p:spPr>
          <a:xfrm>
            <a:off x="457200" y="822960"/>
            <a:ext cx="8229600" cy="1828800"/>
          </a:xfrm>
          <a:prstGeom prst="roundRect">
            <a:avLst>
              <a:gd name="adj" fmla="val 3000"/>
            </a:avLst>
          </a:prstGeom>
          <a:solidFill>
            <a:srgbClr val="1D2B1F"/>
          </a:solidFill>
          <a:ln w="12700">
            <a:solidFill>
              <a:srgbClr val="B89442"/>
            </a:solidFill>
            <a:prstDash val="solid"/>
          </a:ln>
        </p:spPr>
      </p:sp>
      <p:sp>
        <p:nvSpPr>
          <p:cNvPr id="6" name="Text 4"/>
          <p:cNvSpPr/>
          <p:nvPr/>
        </p:nvSpPr>
        <p:spPr>
          <a:xfrm>
            <a:off x="731520" y="914400"/>
            <a:ext cx="7680960" cy="1371600"/>
          </a:xfrm>
          <a:prstGeom prst="rect">
            <a:avLst/>
          </a:prstGeom>
          <a:noFill/>
          <a:ln/>
        </p:spPr>
        <p:txBody>
          <a:bodyPr wrap="square" rtlCol="0" anchor="ctr"/>
          <a:lstStyle/>
          <a:p>
            <a:pPr algn="ctr" indent="0" marL="0">
              <a:buNone/>
            </a:pPr>
            <a:r>
              <a:rPr lang="en-US" sz="1800" i="1" dirty="0">
                <a:solidFill>
                  <a:srgbClr val="F0E6CC"/>
                </a:solidFill>
                <a:latin typeface="Georgia" pitchFamily="34" charset="0"/>
                <a:ea typeface="Georgia" pitchFamily="34" charset="-122"/>
                <a:cs typeface="Georgia" pitchFamily="34" charset="-120"/>
              </a:rPr>
              <a:t>"But Abimelech had not come near her: and he said, LORD, wilt thou slay also a righteous nation?"</a:t>
            </a:r>
            <a:endParaRPr lang="en-US" sz="1800" dirty="0"/>
          </a:p>
        </p:txBody>
      </p:sp>
      <p:sp>
        <p:nvSpPr>
          <p:cNvPr id="7" name="Text 5"/>
          <p:cNvSpPr/>
          <p:nvPr/>
        </p:nvSpPr>
        <p:spPr>
          <a:xfrm>
            <a:off x="731520" y="2240280"/>
            <a:ext cx="7680960" cy="320040"/>
          </a:xfrm>
          <a:prstGeom prst="rect">
            <a:avLst/>
          </a:prstGeom>
          <a:noFill/>
          <a:ln/>
        </p:spPr>
        <p:txBody>
          <a:bodyPr wrap="square" rtlCol="0" anchor="ctr"/>
          <a:lstStyle/>
          <a:p>
            <a:pPr algn="ctr" indent="0" marL="0">
              <a:buNone/>
            </a:pPr>
            <a:r>
              <a:rPr lang="en-US" sz="1300" b="1" dirty="0">
                <a:solidFill>
                  <a:srgbClr val="B89442"/>
                </a:solidFill>
                <a:latin typeface="Calibri" pitchFamily="34" charset="0"/>
                <a:ea typeface="Calibri" pitchFamily="34" charset="-122"/>
                <a:cs typeface="Calibri" pitchFamily="34" charset="-120"/>
              </a:rPr>
              <a:t>— Genesis 20:4</a:t>
            </a:r>
            <a:endParaRPr lang="en-US" sz="1300" dirty="0"/>
          </a:p>
        </p:txBody>
      </p:sp>
      <p:sp>
        <p:nvSpPr>
          <p:cNvPr id="8" name="Text 6"/>
          <p:cNvSpPr/>
          <p:nvPr/>
        </p:nvSpPr>
        <p:spPr>
          <a:xfrm>
            <a:off x="548640" y="2788920"/>
            <a:ext cx="8046720" cy="1737360"/>
          </a:xfrm>
          <a:prstGeom prst="rect">
            <a:avLst/>
          </a:prstGeom>
          <a:noFill/>
          <a:ln/>
        </p:spPr>
        <p:txBody>
          <a:bodyPr wrap="square" rtlCol="0" anchor="t"/>
          <a:lstStyle/>
          <a:p>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THEN: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Moses delivered Babel &amp; Abraham to the redeemed nation of Israel at the edge of the Promised Land around c. 1446-1406 BC.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TODAY: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It exposes our hearts and calls us off the beach into real repentance and trust.
</a:t>
            </a:r>
            <a:pPr indent="0" marL="0">
              <a:lnSpc>
                <a:spcPct val="110000"/>
              </a:lnSpc>
              <a:spcAft>
                <a:spcPts val="600"/>
              </a:spcAft>
              <a:buNone/>
            </a:pPr>
            <a:r>
              <a:rPr lang="en-US" sz="1200" b="1" dirty="0">
                <a:solidFill>
                  <a:srgbClr val="B89442"/>
                </a:solidFill>
                <a:latin typeface="Calibri" pitchFamily="34" charset="0"/>
                <a:ea typeface="Calibri" pitchFamily="34" charset="-122"/>
                <a:cs typeface="Calibri" pitchFamily="34" charset="-120"/>
              </a:rPr>
              <a:t>TOMORROW: </a:t>
            </a:r>
            <a:pPr indent="0" marL="0">
              <a:lnSpc>
                <a:spcPct val="110000"/>
              </a:lnSpc>
              <a:spcAft>
                <a:spcPts val="600"/>
              </a:spcAft>
              <a:buNone/>
            </a:pPr>
            <a:r>
              <a:rPr lang="en-US" sz="1200" dirty="0">
                <a:solidFill>
                  <a:srgbClr val="F0E6CC"/>
                </a:solidFill>
                <a:latin typeface="Calibri" pitchFamily="34" charset="0"/>
                <a:ea typeface="Calibri" pitchFamily="34" charset="-122"/>
                <a:cs typeface="Calibri" pitchFamily="34" charset="-120"/>
              </a:rPr>
              <a:t>And it points, like every passage, straight to the risen Christ.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NetPraise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Babel &amp; Abraham</dc:title>
  <dc:subject>Genesis 19:1-25:18</dc:subject>
  <dc:creator>Jim Yarborough — The Continent of God · NetPraise</dc:creator>
  <cp:lastModifiedBy>Jim Yarborough — The Continent of God · NetPraise</cp:lastModifiedBy>
  <cp:revision>1</cp:revision>
  <dcterms:created xsi:type="dcterms:W3CDTF">2026-05-27T16:12:51Z</dcterms:created>
  <dcterms:modified xsi:type="dcterms:W3CDTF">2026-05-27T16:12:51Z</dcterms:modified>
</cp:coreProperties>
</file>