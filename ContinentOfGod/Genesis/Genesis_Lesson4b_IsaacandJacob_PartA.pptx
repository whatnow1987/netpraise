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 The Continent of God. I'm Jim, and I want to say it again the way I say it every single week: the Bible is not a pond, it is a continent. And most Christians — good, sincere, church-going Christians — never leave the beach. They wade in ankle-deep, get a little wet, and go home.
[PAUSE]
Not us. Not today. Today we get off the beach. This is Genesis, Lesson 4b, Part A — Isaac &amp; Jacob. And this is the map.
Here's our main idea, and I want you to write this down: Beginnings — God creates, mankind falls, and grace begins its long march toward a Redeemer — and Isaac &amp; Jacob is the place God makes it unmistakable.
That is the trail we are walking today. So grab your Bible, grab a pen, and let's take one more step into the interior.
[PRAY] Father, get us off the beach. Open the Book and open our hearts, and lead us all the way to Your Son. In Jesus' name, 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read a word, you have to know where you are standing on the map. The whole story of God runs in one line: Creation and Fall, then Abraham and the Promise, then the Exodus and the Law, then Kings and the Temple, then Exile and Return, then Jesus fulfills it all, then the Church and the Spirit, and finally the New Creation.
Right here — Abraham / Promise — that's where we are. That's the "you are here" pin on the map.
The redeemed nation of Israel at the edge of the Promised Land stood at a hinge of history. Beginnings — God creates, mankind falls, and grace begins its long march toward a Redeemer. God was not speaking into a vacuum; He was speaking into their crisis, their hope, and their need — and the same God speaks to us through these very words.
Don't miss this: you cannot understand what God is saying until you know who He was saying it to and what He was doing in that moment. Get the THEN right, and the TODAY and the TOMORROW will land with full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25:19-24. Follow along in the King James as I read.
Verse 19: "And these are the generations of Isaac, Abraham’s son: Abraham begat Isaac:" Verse 21: "And Isaac intreated the LORD for his wife, because she was barren: and the LORD was intreated of him, and Rebekah his wife conceived." Verse 24: "And when her days to be delivered were fulfilled, behold, there were twins in her womb."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25:27-30. Follow along in the King James as I read.
Verse 27: "And the boys grew: and Esau was a cunning hunter, a man of the field; and Jacob was a plain man, dwelling in tents." Verse 30: "And Esau said to Jacob, Feed me, I pray thee, with that same red pottage; for I am faint: therefore was his name called Edom."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25:33-26:5. Follow along in the King James as I read.
Verse 33: "And Jacob said, Swear to me this day; and he sware unto him: and he sold his birthright unto Jacob." Verse 2: "And the LORD appeared unto him, and said, Go not down into Egypt; dwell in the land which I shall tell thee of:" Verse 5: "Because that Abraham obeyed my voice, and kept my charge, my commandments, my statutes, and my laws."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26:8-11. Follow along in the King James as I read.
Verse 8: "And it came to pass, when he had been there a long time, that Abimelech king of the Philistines looked out at a window, and saw, and, behold, Isaac was sporting with Rebekah his wife." Verse 11: "And Abimelech charged all his people, saying, He that toucheth this man or his wife shall surely be put to death."
[PAUSE]
Now here's the thing — look at what God is doing here. There is a throne behind the thrones, and the One who sits on it never abdicates.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26:14-20. Follow along in the King James as I read.
Verse 14: "For he had possession of flocks, and possession of herds, and great store of servants: and the Philistines envied him." Verse 17: "And Isaac departed thence, and pitched his tent in the valley of Gerar, and dwelt there." Verse 20: "And the herdmen of Gerar did strive with Isaac’s herdmen, saying, The water is ours: and he called the name of the well Esek; because they strove with him."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26:23-26. Follow along in the King James as I read.
Verse 23: "And he went up from thence to Beersheba." Verse 26: "Then Abimelech went to him from Gerar, and Ahuzzath one of his friends, and Phichol the chief captain of his army."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26:29-35. Follow along in the King James as I read.
Verse 29: "That thou wilt do us no hurt, as we have not touched thee, and as we have done unto thee nothing but good, and have sent thee away in peace: thou art now the blessed of the LORD." Verse 32: "And it came to pass the same day, that Isaac’s servants came, and told him concerning the well which they had digged, and said unto him, We have found water." Verse 35: "Which were a grief of mind unto Isaac and to Rebekah."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27:3-6. Follow along in the King James as I read.
Verse 3: "Now therefore take, I pray thee, thy weapons, thy quiver and thy bow, and go out to the field, and take me some venison;" Verse 6: "And Rebekah spake unto Jacob her son, saying, Behold, I heard thy father speak unto Esau thy brother, saying,"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27:9-15. Follow along in the King James as I read.
Verse 9: "Go now to the flock, and fetch me from thence two good kids of the goats; and I will make them savoury meat for thy father, such as he loveth:" Verse 12: "My father peradventure will feel me, and I shall seem to him as a deceiver; and I shall bring a curse upon me, and not a blessing." Verse 15: "And Rebekah took goodly raiment of her eldest son Esau, which were with her in the house, and put them upon Jacob her younger son:"
[PAUSE]
Now here's the thing — look at what God is doing here. The love of God is not soft sentiment; it is covenant loyalty that will not let go.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27:18-21. Follow along in the King James as I read.
Verse 18: "And he came unto his father, and said, My father: and he said, Here am I; who art thou, my son?" Verse 21: "And Isaac said unto Jacob, Come near, I pray thee, that I may feel thee, my son, whether thou be my very son Esau or not."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27:24-30. Follow along in the King James as I read.
Verse 24: "And he said, Art thou my very son Esau? And he said, I am." Verse 27: "And he came near, and kissed him: and he smelled the smell of his raiment, and blessed him, and said, See, the smell of my son is as the smell of a field which the LORD hath blessed:" Verse 30: "And it came to pass, as soon as Isaac had made an end of blessing Jacob, and Jacob was yet scarce gone out from the presence of Isaac his father, that Esau his brother came in from his hunting."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27:33-36. Follow along in the King James as I read.
Verse 33: "And Isaac trembled very exceedingly, and said, Who? where is he that hath taken venison, and brought it me, and I have eaten of all before thou camest, and have blessed him? yea, and he shall be blessed." Verse 36: "And he said, Is not he rightly named Jacob? for he hath supplanted me these two times: he took away my birthright; and, behold, now he hath taken away my blessing. And he said, Hast thou not reserved a blessing for me?"
[PAUSE]
Now here's the thing — look at what God is doing here. Sin is never small. It always costs more than we planned to pay.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27:39-45. Follow along in the King James as I read.
Verse 39: "And Isaac his father answered and said unto him, Behold, thy dwelling shall be the fatness of the earth, and of the dew of heaven from above;" Verse 42: "And these words of Esau her elder son were told to Rebekah: and she sent and called Jacob her younger son, and said unto him, Behold, thy brother Esau, as touching thee, doth comfort himself, purposing to kill thee." Verse 45: "Until thy brother’s anger turn away from thee, and he forget that which thou hast done to him: then I will send, and fetch thee from thence: why should I be deprived also of you both in one day?"
[PAUSE]
Now here's the thing — look at what God is doing here. Sin is never small. It always costs more than we planned to pay.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28:2-5. Follow along in the King James as I read.
Verse 2: "Arise, go to Padanaram, to the house of Bethuel thy mother’s father; and take thee a wife from thence of the daughters of Laban thy mother’s brother." Verse 5: "And Isaac sent away Jacob: and he went to Padanaram unto Laban, son of Bethuel the Syrian, the brother of Rebekah, Jacob’s and Esau’s mother."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28:8-14. Follow along in the King James as I read.
Verse 8: "And Esau seeing that the daughters of Canaan pleased not Isaac his father;" Verse 11: "And he lighted upon a certain place, and tarried there all night, because the sun was set; and he took of the stones of that place, and put them for his pillows, and lay down in that place to sleep." Verse 14: "And thy seed shall be as the dust of the earth, and thou shalt spread abroad to the west, and to the east, and to the north, and to the south: and in thee and in thy seed shall all the families of the earth be blessed."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28:17-20. Follow along in the King James as I read.
Verse 17: "And he was afraid, and said, How dreadful is this place! this is none other but the house of God, and this is the gate of heaven." Verse 20: "And Jacob vowed a vow, saying, If God will be with me, and will keep me in this way that I go, and will give me bread to eat, and raiment to put on,"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29:1-7. Follow along in the King James as I read.
Verse 1: "Then Jacob went on his journey, and came into the land of the people of the east." Verse 4: "And Jacob said unto them, My brethren, whence be ye? And they said, Of Haran are we." Verse 7: "And he said, Lo, it is yet high day, neither is it time that the cattle should be gathered together: water ye the sheep, and go and feed them."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29:10-13. Follow along in the King James as I read.
Verse 10: "And it came to pass, when Jacob saw Rachel the daughter of Laban his mother’s brother, and the sheep of Laban his mother’s brother, that Jacob went near, and rolled the stone from the well’s mouth, and watered the flock of Laban his mother’s brother." Verse 13: "And it came to pass, when Laban heard the tidings of Jacob his sister’s son, that he ran to meet him, and embraced him, and kissed him, and brought him to his house. And he told Laban all these things."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29:16-22. Follow along in the King James as I read.
Verse 16: "And Laban had two daughters: the name of the elder was Leah, and the name of the younger was Rachel." Verse 19: "And Laban said, It is better that I give her to thee, than that I should give her to another man: abide with me." Verse 22: "And Laban gathered together all the men of the place, and made a feast."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29:25-28. Follow along in the King James as I read.
Verse 25: "And it came to pass, that in the morning, behold, it was Leah: and he said to Laban, What is this thou hast done unto me? did not I serve with thee for Rachel? wherefore then hast thou beguiled me?" Verse 28: "And Jacob did so, and fulfilled her week: and he gave him Rachel his daughter to wife also."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29:31-30:2. Follow along in the King James as I read.
Verse 31: "And when the LORD saw that Leah was hated, he opened her womb: but Rachel was barren." Verse 34: "And she conceived again, and bare a son; and said, Now this time will my husband be joined unto me, because I have born him three sons: therefore was his name called Levi." Verse 2: "And Jacob’s anger was kindled against Rachel: and he said, Am I in God’s stead, who hath withheld from thee the fruit of the womb?"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30:5-8. Follow along in the King James as I read.
Verse 5: "And Bilhah conceived, and bare Jacob a son." Verse 8: "And Rachel said, With great wrestlings have I wrestled with my sister, and I have prevailed: and she called his name Naphtali."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30:11-17. Follow along in the King James as I read.
Verse 11: "And Leah said, A troop cometh: and she called his name Gad." Verse 14: "And Reuben went in the days of wheat harvest, and found mandrakes in the field, and brought them unto his mother Leah. Then Rachel said to Leah, Give me, I pray thee, of thy son’s mandrakes." Verse 17: "And God hearkened unto Leah, and she conceived, and bare Jacob the fifth son."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30:20-23. Follow along in the King James as I read.
Verse 20: "And Leah said, God hath endued me with a good dowry; now will my husband dwell with me, because I have born him six sons: and she called his name Zebulun." Verse 23: "And she conceived, and bare a son; and said, God hath taken away my reproach:"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30:26-32. Follow along in the King James as I read.
Verse 26: "Give me my wives and my children, for whom I have served thee, and let me go: for thou knowest my service which I have done thee." Verse 29: "And he said unto him, Thou knowest how I have served thee, and how thy cattle was with me." Verse 32: "I will pass through all thy flock to day, removing from thence all the speckled and spotted cattle, and all the brown cattle among the sheep, and the spotted and speckled among the goats: and of such shall be my hire."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30:35-38. Follow along in the King James as I read.
Verse 35: "And he removed that day the he goats that were ringstraked and spotted, and all the she goats that were speckled and spotted, and every one that had some white in it, and all the brown among the sheep, and gave them into the hand of his sons." Verse 38: "And he set the rods which he had pilled before the flocks in the gutters in the watering troughs when the flocks came to drink, that they should conceive when they came to drink."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30:41. Follow along in the King James as I read.
Verse 41: "And it came to pass, whensoever the stronger cattle did conceive, that Jacob laid the rods before the eyes of the cattle in the gutters, that they might conceive among the rods."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slow down and do a little Bible triage on the facts. THEN — the who, the what, and the when.
WHO. Genesis comes to us through Moses, written to the redeemed nation of Israel at the edge of the Promised Land. Real people, real place, real pressure.
WHAT. The heartbeat of this book is one thing: beginnings — God creates, mankind falls, and grace begins its long march toward a Redeemer. Everything in Genesis 25:19-30:43 serves that one argument.
WHEN. We are looking at roughly c. 1446-1406 BC. Hold that date in your mind — it keeps us honest and keeps the text in its own world before we drag it into ours.
Write this down: context is not optional. It is the floor we stand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observe. Before we apply anything, we have to actually see what is on the page. So let's walk the trail slowly.
Observation 1. THE TEXT ITSELF: Read Genesis 25:19-30:43 slowly. Notice God is the acting subject — He initiates before anyone responds. Write this down: grace always moves first.
Observation 2. STRUCTURE: This passage is built with intention, not accident. Mark the repeated words and the turning point — the Holy Spirit underlines what matters most.
Observation 3. Leaders of the conservative movement note that Genesis must be read in its covenant context, not lifted out as isolated proverbs. The whole book argues one case: beginnings — God creates, mankind falls, and grace begins its long march toward a Redeemer.
Observation 4. Conservative scholars observe that the original audience — the redeemed nation of Israel at the edge of the Promised Land — heard this as a word for their crisis, not a timeless abstraction. Get the THEN right and the TODAY lands true.
Observation 5. Watch the contrast between human failure and divine faithfulness. The people stumble; God does not.
Observation 6. Look at what God is doing here: He is not merely correcting behavior, He is forming a people for His own glory.
Observation 7. Here's the thing — this passage refuses to leave you neutral. It diagnoses the heart and then offers the only cure.
Observation 8. Every detail is a step off the beach and into the interior. This is the map: beginnings — God creates, mankind falls, and grace begins its long march toward a Redeemer.
Do you see it? This is what I mean by getting off the beach. The treasure was never in the shallows. It is right here in the details of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was THEN. Now TODAY. Because if all we do is learn ancient history, we have missed the whole point. This Book reads us.
FALLEN CONDITION FOCUS: This passage exposes our tendency to want the gifts of God while keeping our distance from God Himself.
So let's get personal. Four questions — and don't answer the easy way.
Question 1. Where in isaac &amp; jacob do you see your own heart described — not someone else's?
Question 2. What does this passage say is true about God that, if you really believed it on Monday morning, would change how you live?
Question 3. Be specific: name one place this week where you have been living as if this text were not true.
Question 4. What would repentance actually look like here — not in theory, but in your calendar, your wallet, your words?
[PAUSE] Sit in that. Don't rush past the discomfort. That discomfort is the Surgeon's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Q5 — PROCLAMATION: Who in your life needs to hear what Genesis Isaac &amp; Jacob reveals about God, and what is keeping you from telling them this week?
Here's the thing: a truth this big was never meant to die in a notebook. Beginnings — God creates, mankind falls, and grace begins its long march toward a Redeemer — that is news, and news is for sharing. You don't have to be a scholar. You just have to point at the map and say, "Come and see."
CHALLENGE: This week, get off the beach. Take one concrete step into the interior of God's character that this lesson opened up — and take one person with you. Don't miss this: every trail in Genesis runs to the same summit. The God who acts in this passage is the God who put on flesh, went to a cross, and walked out of a tomb so that you could be His. [LINK: John 1:1-3] That is where this ends. That is where it always ends — at Jesus.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grounded us. TODAY cut us. Now TOMORROW lifts us — because every trail on this continent leads to one summit, and His name is Jesus.
THE PROMISE OPENED. Genesis does not stand alone. It is a thread in one tapestry, and the tapestry is Christ. What is begun here strains forward toward the One who fulfills it.
THE NEED EXPOSED. This passage shows us a gap no human effort can close — between a holy God and an unholy people. That gap is the silhouette of a cross. The diagnosis here is precisely the wound the gospel heals.
THE SHADOW AND THE SUBSTANCE. Conservative scholars observe that the patterns here — covenant, sacrifice, kingship, deliverance — are shadows cast backward by Jesus. See the shadow, then look up and find the One casting it.
THE SUMMIT. Every trail leads to the same summit. Isaac &amp; Jacob lifts our eyes from history, through our own hearts, to the risen Christ who reigns now and is coming again.
Don't miss this: the Old shadows and the New light are one story. This is the map, and the map ends at an empty tomb.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seal it with the memory verse. Hide this one in your heart: "And they said, We saw certainly that the LORD was with thee: and we said, Let there be now an oath betwixt us, even betwixt us and thee, and let us make a covenant with thee;" — that's Genesis 26:28.
Here is the whole trail in three sentences. THEN: Moses delivered Isaac &amp; Jacob to the redeemed nation of Israel at the edge of the Promised Land around c. 1446-1406 BC. TODAY: It exposes our hearts and calls us off the beach into real repentance and trust. TOMORROW: And it points, like every passage, straight to the risen Christ.
[PRAY] Father, thank You for taking us off the beach today. Write this word on our hearts. Make us doers and not hearers only, and let everything we have seen drive us deeper into Jesus, in whose name we pray, amen.
That's Lesson done. Keep walking. The interior is wide, and the King is good. I'll see you on the next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320040"/>
            <a:ext cx="8229600" cy="365760"/>
          </a:xfrm>
          <a:prstGeom prst="rect">
            <a:avLst/>
          </a:prstGeom>
          <a:noFill/>
          <a:ln/>
        </p:spPr>
        <p:txBody>
          <a:bodyPr wrap="square" rtlCol="0" anchor="ctr"/>
          <a:lstStyle/>
          <a:p>
            <a:pPr indent="0" marL="0">
              <a:buNone/>
            </a:pPr>
            <a:r>
              <a:rPr lang="en-US" sz="1300" b="1" spc="200" kern="0" dirty="0">
                <a:solidFill>
                  <a:srgbClr val="B89442"/>
                </a:solidFill>
                <a:latin typeface="Calibri" pitchFamily="34" charset="0"/>
                <a:ea typeface="Calibri" pitchFamily="34" charset="-122"/>
                <a:cs typeface="Calibri" pitchFamily="34" charset="-120"/>
              </a:rPr>
              <a:t>GENESIS BIBLE STUDY · LESSON 4b · PART A</a:t>
            </a:r>
            <a:endParaRPr lang="en-US" sz="1300" dirty="0"/>
          </a:p>
        </p:txBody>
      </p:sp>
      <p:sp>
        <p:nvSpPr>
          <p:cNvPr id="5" name="Text 3"/>
          <p:cNvSpPr/>
          <p:nvPr/>
        </p:nvSpPr>
        <p:spPr>
          <a:xfrm>
            <a:off x="457200" y="777240"/>
            <a:ext cx="8229600" cy="1097280"/>
          </a:xfrm>
          <a:prstGeom prst="rect">
            <a:avLst/>
          </a:prstGeom>
          <a:noFill/>
          <a:ln/>
        </p:spPr>
        <p:txBody>
          <a:bodyPr wrap="square" rtlCol="0" anchor="ctr"/>
          <a:lstStyle/>
          <a:p>
            <a:pPr indent="0" marL="0">
              <a:buNone/>
            </a:pPr>
            <a:r>
              <a:rPr lang="en-US" sz="4800" b="1" dirty="0">
                <a:solidFill>
                  <a:srgbClr val="F0E6CC"/>
                </a:solidFill>
                <a:latin typeface="Georgia" pitchFamily="34" charset="0"/>
                <a:ea typeface="Georgia" pitchFamily="34" charset="-122"/>
                <a:cs typeface="Georgia" pitchFamily="34" charset="-120"/>
              </a:rPr>
              <a:t>Isaac &amp; Jacob</a:t>
            </a:r>
            <a:endParaRPr lang="en-US" sz="4800" dirty="0"/>
          </a:p>
        </p:txBody>
      </p:sp>
      <p:sp>
        <p:nvSpPr>
          <p:cNvPr id="6" name="Text 4"/>
          <p:cNvSpPr/>
          <p:nvPr/>
        </p:nvSpPr>
        <p:spPr>
          <a:xfrm>
            <a:off x="457200" y="1874520"/>
            <a:ext cx="8229600" cy="365760"/>
          </a:xfrm>
          <a:prstGeom prst="rect">
            <a:avLst/>
          </a:prstGeom>
          <a:noFill/>
          <a:ln/>
        </p:spPr>
        <p:txBody>
          <a:bodyPr wrap="square" rtlCol="0" anchor="ctr"/>
          <a:lstStyle/>
          <a:p>
            <a:pPr indent="0" marL="0">
              <a:buNone/>
            </a:pPr>
            <a:r>
              <a:rPr lang="en-US" sz="1800" i="1" dirty="0">
                <a:solidFill>
                  <a:srgbClr val="B89442"/>
                </a:solidFill>
                <a:latin typeface="Georgia" pitchFamily="34" charset="0"/>
                <a:ea typeface="Georgia" pitchFamily="34" charset="-122"/>
                <a:cs typeface="Georgia" pitchFamily="34" charset="-120"/>
              </a:rPr>
              <a:t>Genesis 25:19-30:43</a:t>
            </a:r>
            <a:endParaRPr lang="en-US" sz="1800" dirty="0"/>
          </a:p>
        </p:txBody>
      </p:sp>
      <p:sp>
        <p:nvSpPr>
          <p:cNvPr id="7" name="Shape 5"/>
          <p:cNvSpPr/>
          <p:nvPr/>
        </p:nvSpPr>
        <p:spPr>
          <a:xfrm>
            <a:off x="457200" y="2423160"/>
            <a:ext cx="8229600" cy="1371600"/>
          </a:xfrm>
          <a:prstGeom prst="roundRect">
            <a:avLst>
              <a:gd name="adj" fmla="val 4000"/>
            </a:avLst>
          </a:prstGeom>
          <a:solidFill>
            <a:srgbClr val="1D2B1F"/>
          </a:solidFill>
          <a:ln w="12700">
            <a:solidFill>
              <a:srgbClr val="B89442"/>
            </a:solidFill>
            <a:prstDash val="solid"/>
          </a:ln>
        </p:spPr>
      </p:sp>
      <p:sp>
        <p:nvSpPr>
          <p:cNvPr id="8" name="Text 6"/>
          <p:cNvSpPr/>
          <p:nvPr/>
        </p:nvSpPr>
        <p:spPr>
          <a:xfrm>
            <a:off x="685800" y="2514600"/>
            <a:ext cx="7772400" cy="1188720"/>
          </a:xfrm>
          <a:prstGeom prst="rect">
            <a:avLst/>
          </a:prstGeom>
          <a:noFill/>
          <a:ln/>
        </p:spPr>
        <p:txBody>
          <a:bodyPr wrap="square" rtlCol="0" anchor="ctr"/>
          <a:lstStyle/>
          <a:p>
            <a:pPr algn="ctr" indent="0" marL="0">
              <a:buNone/>
            </a:pPr>
            <a:r>
              <a:rPr lang="en-US" sz="1800" dirty="0">
                <a:solidFill>
                  <a:srgbClr val="F0E6CC"/>
                </a:solidFill>
                <a:latin typeface="Calibri" pitchFamily="34" charset="0"/>
                <a:ea typeface="Calibri" pitchFamily="34" charset="-122"/>
                <a:cs typeface="Calibri" pitchFamily="34" charset="-120"/>
              </a:rPr>
              <a:t>Beginnings — God creates, mankind falls, and grace begins its long march toward a Redeemer — and Isaac &amp; Jacob is the place God makes it unmistakable.</a:t>
            </a:r>
            <a:endParaRPr lang="en-US" sz="1800" dirty="0"/>
          </a:p>
        </p:txBody>
      </p:sp>
      <p:sp>
        <p:nvSpPr>
          <p:cNvPr id="9" name="Text 7"/>
          <p:cNvSpPr/>
          <p:nvPr/>
        </p:nvSpPr>
        <p:spPr>
          <a:xfrm>
            <a:off x="457200" y="3977640"/>
            <a:ext cx="8229600" cy="365760"/>
          </a:xfrm>
          <a:prstGeom prst="rect">
            <a:avLst/>
          </a:prstGeom>
          <a:noFill/>
          <a:ln/>
        </p:spPr>
        <p:txBody>
          <a:bodyPr wrap="square" rtlCol="0" anchor="ctr"/>
          <a:lstStyle/>
          <a:p>
            <a:pPr indent="0" marL="0">
              <a:buNone/>
            </a:pPr>
            <a:r>
              <a:rPr lang="en-US" sz="1100" i="1" dirty="0">
                <a:solidFill>
                  <a:srgbClr val="F0E6CC"/>
                </a:solidFill>
                <a:latin typeface="Calibri" pitchFamily="34" charset="0"/>
                <a:ea typeface="Calibri" pitchFamily="34" charset="-122"/>
                <a:cs typeface="Calibri" pitchFamily="34" charset="-120"/>
              </a:rPr>
              <a:t>Memory Verse: Genesis 26:28</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548640"/>
          </a:xfrm>
          <a:prstGeom prst="rect">
            <a:avLst/>
          </a:prstGeom>
          <a:noFill/>
          <a:ln/>
        </p:spPr>
        <p:txBody>
          <a:bodyPr wrap="square" rtlCol="0" anchor="ctr"/>
          <a:lstStyle/>
          <a:p>
            <a:pPr indent="0" marL="0">
              <a:buNone/>
            </a:pPr>
            <a:r>
              <a:rPr lang="en-US" sz="2600" b="1" dirty="0">
                <a:solidFill>
                  <a:srgbClr val="F0E6CC"/>
                </a:solidFill>
                <a:latin typeface="Georgia" pitchFamily="34" charset="0"/>
                <a:ea typeface="Georgia" pitchFamily="34" charset="-122"/>
                <a:cs typeface="Georgia" pitchFamily="34" charset="-120"/>
              </a:rPr>
              <a:t>God's Story — The Timeline</a:t>
            </a:r>
            <a:endParaRPr lang="en-US" sz="2600" dirty="0"/>
          </a:p>
        </p:txBody>
      </p:sp>
      <p:sp>
        <p:nvSpPr>
          <p:cNvPr id="5" name="Shape 3"/>
          <p:cNvSpPr/>
          <p:nvPr/>
        </p:nvSpPr>
        <p:spPr>
          <a:xfrm>
            <a:off x="493776" y="1051560"/>
            <a:ext cx="955548" cy="777240"/>
          </a:xfrm>
          <a:prstGeom prst="roundRect">
            <a:avLst>
              <a:gd name="adj" fmla="val 7059"/>
            </a:avLst>
          </a:prstGeom>
          <a:solidFill>
            <a:srgbClr val="1D2B1F"/>
          </a:solidFill>
          <a:ln w="12700">
            <a:solidFill>
              <a:srgbClr val="B89442"/>
            </a:solidFill>
            <a:prstDash val="solid"/>
          </a:ln>
        </p:spPr>
      </p:sp>
      <p:sp>
        <p:nvSpPr>
          <p:cNvPr id="6" name="Text 4"/>
          <p:cNvSpPr/>
          <p:nvPr/>
        </p:nvSpPr>
        <p:spPr>
          <a:xfrm>
            <a:off x="4937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Creation / Fall</a:t>
            </a:r>
            <a:endParaRPr lang="en-US" sz="850" dirty="0"/>
          </a:p>
        </p:txBody>
      </p:sp>
      <p:sp>
        <p:nvSpPr>
          <p:cNvPr id="7" name="Shape 5"/>
          <p:cNvSpPr/>
          <p:nvPr/>
        </p:nvSpPr>
        <p:spPr>
          <a:xfrm>
            <a:off x="1522476" y="1051560"/>
            <a:ext cx="955548" cy="777240"/>
          </a:xfrm>
          <a:prstGeom prst="roundRect">
            <a:avLst>
              <a:gd name="adj" fmla="val 7059"/>
            </a:avLst>
          </a:prstGeom>
          <a:solidFill>
            <a:srgbClr val="B89442"/>
          </a:solidFill>
          <a:ln w="12700">
            <a:solidFill>
              <a:srgbClr val="B89442"/>
            </a:solidFill>
            <a:prstDash val="solid"/>
          </a:ln>
        </p:spPr>
      </p:sp>
      <p:sp>
        <p:nvSpPr>
          <p:cNvPr id="8" name="Text 6"/>
          <p:cNvSpPr/>
          <p:nvPr/>
        </p:nvSpPr>
        <p:spPr>
          <a:xfrm>
            <a:off x="1522476" y="1051560"/>
            <a:ext cx="955548" cy="777240"/>
          </a:xfrm>
          <a:prstGeom prst="rect">
            <a:avLst/>
          </a:prstGeom>
          <a:noFill/>
          <a:ln/>
        </p:spPr>
        <p:txBody>
          <a:bodyPr wrap="square" rtlCol="0" anchor="ctr"/>
          <a:lstStyle/>
          <a:p>
            <a:pPr algn="ctr" indent="0" marL="0">
              <a:buNone/>
            </a:pPr>
            <a:r>
              <a:rPr lang="en-US" sz="850" b="1" dirty="0">
                <a:solidFill>
                  <a:srgbClr val="F0E6CC"/>
                </a:solidFill>
                <a:latin typeface="Calibri" pitchFamily="34" charset="0"/>
                <a:ea typeface="Calibri" pitchFamily="34" charset="-122"/>
                <a:cs typeface="Calibri" pitchFamily="34" charset="-120"/>
              </a:rPr>
              <a:t>Abraham / Promise</a:t>
            </a:r>
            <a:endParaRPr lang="en-US" sz="850" dirty="0"/>
          </a:p>
        </p:txBody>
      </p:sp>
      <p:sp>
        <p:nvSpPr>
          <p:cNvPr id="9" name="Text 7"/>
          <p:cNvSpPr/>
          <p:nvPr/>
        </p:nvSpPr>
        <p:spPr>
          <a:xfrm>
            <a:off x="1303020" y="1847088"/>
            <a:ext cx="1394460" cy="274320"/>
          </a:xfrm>
          <a:prstGeom prst="rect">
            <a:avLst/>
          </a:prstGeom>
          <a:noFill/>
          <a:ln/>
        </p:spPr>
        <p:txBody>
          <a:bodyPr wrap="square" rtlCol="0" anchor="ctr"/>
          <a:lstStyle/>
          <a:p>
            <a:pPr algn="ctr" indent="0" marL="0">
              <a:buNone/>
            </a:pPr>
            <a:r>
              <a:rPr lang="en-US" sz="900" b="1" dirty="0">
                <a:solidFill>
                  <a:srgbClr val="B89442"/>
                </a:solidFill>
                <a:latin typeface="Calibri" pitchFamily="34" charset="0"/>
                <a:ea typeface="Calibri" pitchFamily="34" charset="-122"/>
                <a:cs typeface="Calibri" pitchFamily="34" charset="-120"/>
              </a:rPr>
              <a:t>▲ WE ARE HERE</a:t>
            </a:r>
            <a:endParaRPr lang="en-US" sz="900" dirty="0"/>
          </a:p>
        </p:txBody>
      </p:sp>
      <p:sp>
        <p:nvSpPr>
          <p:cNvPr id="10" name="Shape 8"/>
          <p:cNvSpPr/>
          <p:nvPr/>
        </p:nvSpPr>
        <p:spPr>
          <a:xfrm>
            <a:off x="2551176" y="1051560"/>
            <a:ext cx="955548" cy="777240"/>
          </a:xfrm>
          <a:prstGeom prst="roundRect">
            <a:avLst>
              <a:gd name="adj" fmla="val 7059"/>
            </a:avLst>
          </a:prstGeom>
          <a:solidFill>
            <a:srgbClr val="1D2B1F"/>
          </a:solidFill>
          <a:ln w="12700">
            <a:solidFill>
              <a:srgbClr val="B89442"/>
            </a:solidFill>
            <a:prstDash val="solid"/>
          </a:ln>
        </p:spPr>
      </p:sp>
      <p:sp>
        <p:nvSpPr>
          <p:cNvPr id="11" name="Text 9"/>
          <p:cNvSpPr/>
          <p:nvPr/>
        </p:nvSpPr>
        <p:spPr>
          <a:xfrm>
            <a:off x="25511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Exodus / Law</a:t>
            </a:r>
            <a:endParaRPr lang="en-US" sz="850" dirty="0"/>
          </a:p>
        </p:txBody>
      </p:sp>
      <p:sp>
        <p:nvSpPr>
          <p:cNvPr id="12" name="Shape 10"/>
          <p:cNvSpPr/>
          <p:nvPr/>
        </p:nvSpPr>
        <p:spPr>
          <a:xfrm>
            <a:off x="3579876" y="1051560"/>
            <a:ext cx="955548" cy="777240"/>
          </a:xfrm>
          <a:prstGeom prst="roundRect">
            <a:avLst>
              <a:gd name="adj" fmla="val 7059"/>
            </a:avLst>
          </a:prstGeom>
          <a:solidFill>
            <a:srgbClr val="1D2B1F"/>
          </a:solidFill>
          <a:ln w="12700">
            <a:solidFill>
              <a:srgbClr val="B89442"/>
            </a:solidFill>
            <a:prstDash val="solid"/>
          </a:ln>
        </p:spPr>
      </p:sp>
      <p:sp>
        <p:nvSpPr>
          <p:cNvPr id="13" name="Text 11"/>
          <p:cNvSpPr/>
          <p:nvPr/>
        </p:nvSpPr>
        <p:spPr>
          <a:xfrm>
            <a:off x="35798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Kings / Temple</a:t>
            </a:r>
            <a:endParaRPr lang="en-US" sz="850" dirty="0"/>
          </a:p>
        </p:txBody>
      </p:sp>
      <p:sp>
        <p:nvSpPr>
          <p:cNvPr id="14" name="Shape 12"/>
          <p:cNvSpPr/>
          <p:nvPr/>
        </p:nvSpPr>
        <p:spPr>
          <a:xfrm>
            <a:off x="4608576" y="1051560"/>
            <a:ext cx="955548" cy="777240"/>
          </a:xfrm>
          <a:prstGeom prst="roundRect">
            <a:avLst>
              <a:gd name="adj" fmla="val 7059"/>
            </a:avLst>
          </a:prstGeom>
          <a:solidFill>
            <a:srgbClr val="1D2B1F"/>
          </a:solidFill>
          <a:ln w="12700">
            <a:solidFill>
              <a:srgbClr val="B89442"/>
            </a:solidFill>
            <a:prstDash val="solid"/>
          </a:ln>
        </p:spPr>
      </p:sp>
      <p:sp>
        <p:nvSpPr>
          <p:cNvPr id="15" name="Text 13"/>
          <p:cNvSpPr/>
          <p:nvPr/>
        </p:nvSpPr>
        <p:spPr>
          <a:xfrm>
            <a:off x="46085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Exile / Return</a:t>
            </a:r>
            <a:endParaRPr lang="en-US" sz="850" dirty="0"/>
          </a:p>
        </p:txBody>
      </p:sp>
      <p:sp>
        <p:nvSpPr>
          <p:cNvPr id="16" name="Shape 14"/>
          <p:cNvSpPr/>
          <p:nvPr/>
        </p:nvSpPr>
        <p:spPr>
          <a:xfrm>
            <a:off x="5637276" y="1051560"/>
            <a:ext cx="955548" cy="777240"/>
          </a:xfrm>
          <a:prstGeom prst="roundRect">
            <a:avLst>
              <a:gd name="adj" fmla="val 7059"/>
            </a:avLst>
          </a:prstGeom>
          <a:solidFill>
            <a:srgbClr val="1D2B1F"/>
          </a:solidFill>
          <a:ln w="12700">
            <a:solidFill>
              <a:srgbClr val="B89442"/>
            </a:solidFill>
            <a:prstDash val="solid"/>
          </a:ln>
        </p:spPr>
      </p:sp>
      <p:sp>
        <p:nvSpPr>
          <p:cNvPr id="17" name="Text 15"/>
          <p:cNvSpPr/>
          <p:nvPr/>
        </p:nvSpPr>
        <p:spPr>
          <a:xfrm>
            <a:off x="56372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Jesus Fulfills</a:t>
            </a:r>
            <a:endParaRPr lang="en-US" sz="850" dirty="0"/>
          </a:p>
        </p:txBody>
      </p:sp>
      <p:sp>
        <p:nvSpPr>
          <p:cNvPr id="18" name="Shape 16"/>
          <p:cNvSpPr/>
          <p:nvPr/>
        </p:nvSpPr>
        <p:spPr>
          <a:xfrm>
            <a:off x="6665976" y="1051560"/>
            <a:ext cx="955548" cy="777240"/>
          </a:xfrm>
          <a:prstGeom prst="roundRect">
            <a:avLst>
              <a:gd name="adj" fmla="val 7059"/>
            </a:avLst>
          </a:prstGeom>
          <a:solidFill>
            <a:srgbClr val="1D2B1F"/>
          </a:solidFill>
          <a:ln w="12700">
            <a:solidFill>
              <a:srgbClr val="B89442"/>
            </a:solidFill>
            <a:prstDash val="solid"/>
          </a:ln>
        </p:spPr>
      </p:sp>
      <p:sp>
        <p:nvSpPr>
          <p:cNvPr id="19" name="Text 17"/>
          <p:cNvSpPr/>
          <p:nvPr/>
        </p:nvSpPr>
        <p:spPr>
          <a:xfrm>
            <a:off x="66659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Church / Spirit</a:t>
            </a:r>
            <a:endParaRPr lang="en-US" sz="850" dirty="0"/>
          </a:p>
        </p:txBody>
      </p:sp>
      <p:sp>
        <p:nvSpPr>
          <p:cNvPr id="20" name="Shape 18"/>
          <p:cNvSpPr/>
          <p:nvPr/>
        </p:nvSpPr>
        <p:spPr>
          <a:xfrm>
            <a:off x="7694676" y="1051560"/>
            <a:ext cx="955548" cy="777240"/>
          </a:xfrm>
          <a:prstGeom prst="roundRect">
            <a:avLst>
              <a:gd name="adj" fmla="val 7059"/>
            </a:avLst>
          </a:prstGeom>
          <a:solidFill>
            <a:srgbClr val="1D2B1F"/>
          </a:solidFill>
          <a:ln w="12700">
            <a:solidFill>
              <a:srgbClr val="B89442"/>
            </a:solidFill>
            <a:prstDash val="solid"/>
          </a:ln>
        </p:spPr>
      </p:sp>
      <p:sp>
        <p:nvSpPr>
          <p:cNvPr id="21" name="Text 19"/>
          <p:cNvSpPr/>
          <p:nvPr/>
        </p:nvSpPr>
        <p:spPr>
          <a:xfrm>
            <a:off x="76946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New Creation</a:t>
            </a:r>
            <a:endParaRPr lang="en-US" sz="850" dirty="0"/>
          </a:p>
        </p:txBody>
      </p:sp>
      <p:sp>
        <p:nvSpPr>
          <p:cNvPr id="22" name="Shape 20"/>
          <p:cNvSpPr/>
          <p:nvPr/>
        </p:nvSpPr>
        <p:spPr>
          <a:xfrm>
            <a:off x="457200" y="2377440"/>
            <a:ext cx="8229600" cy="2194560"/>
          </a:xfrm>
          <a:prstGeom prst="roundRect">
            <a:avLst>
              <a:gd name="adj" fmla="val 2500"/>
            </a:avLst>
          </a:prstGeom>
          <a:solidFill>
            <a:srgbClr val="1D2B1F"/>
          </a:solidFill>
          <a:ln w="12700">
            <a:solidFill>
              <a:srgbClr val="1D2B1F"/>
            </a:solidFill>
            <a:prstDash val="solid"/>
          </a:ln>
        </p:spPr>
      </p:sp>
      <p:sp>
        <p:nvSpPr>
          <p:cNvPr id="23" name="Text 21"/>
          <p:cNvSpPr/>
          <p:nvPr/>
        </p:nvSpPr>
        <p:spPr>
          <a:xfrm>
            <a:off x="685800" y="2514600"/>
            <a:ext cx="7772400" cy="1920240"/>
          </a:xfrm>
          <a:prstGeom prst="rect">
            <a:avLst/>
          </a:prstGeom>
          <a:noFill/>
          <a:ln/>
        </p:spPr>
        <p:txBody>
          <a:bodyPr wrap="square" rtlCol="0" anchor="t"/>
          <a:lstStyle/>
          <a:p>
            <a:pPr indent="0" marL="0">
              <a:buNone/>
            </a:pPr>
            <a:r>
              <a:rPr lang="en-US" sz="1400" dirty="0">
                <a:solidFill>
                  <a:srgbClr val="F0E6CC"/>
                </a:solidFill>
                <a:latin typeface="Calibri" pitchFamily="34" charset="0"/>
                <a:ea typeface="Calibri" pitchFamily="34" charset="-122"/>
                <a:cs typeface="Calibri" pitchFamily="34" charset="-120"/>
              </a:rPr>
              <a:t>The redeemed nation of Israel at the edge of the Promised Land stood at a hinge of history. Beginnings — God creates, mankind falls, and grace begins its long march toward a Redeemer. God was not speaking into a vacuum; He was speaking into their crisis, their hope, and their need — and the same God speaks to us through these very words.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25:19-24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these are the generations of Isaac, Abraham’s son: Abraham begat Isaac: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Isaac intreated the LORD for his wife, because she was barren: and the LORD was intreated of him, and Rebekah his wife conceived.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when her days to be delivered were fulfilled, behold, there were twins in her womb.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25:27-30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boys grew: and Esau was a cunning hunter, a man of the field; and Jacob was a plain man, dwelling in tents.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Esau said to Jacob, Feed me, I pray thee, with that same red pottage; for I am faint: therefore was his name called Edom.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25:33-26:5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Jacob said, Swear to me this day; and he sware unto him: and he sold his birthright unto Jacob.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LORD appeared unto him, and said, Go not down into Egypt; dwell in the land which I shall tell thee of: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Because that Abraham obeyed my voice, and kept my charge, my commandments, my statutes, and my laws.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26:8-11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came to pass, when he had been there a long time, that Abimelech king of the Philistines looked out at a window, and saw, and, behold, Isaac was sporting with Rebekah his wife.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Abimelech charged all his people, saying, He that toucheth this man or his wife shall surely be put to death.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There is a throne behind the thrones, and the One who sits on it never abdicates.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26:14-20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For he had possession of flocks, and possession of herds, and great store of servants: and the Philistines envied him.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Isaac departed thence, and pitched his tent in the valley of Gerar, and dwelt there.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herdmen of Gerar did strive with Isaac’s herdmen, saying, The water is ours: and he called the name of the well Esek; because they strove with him.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26:23-26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went up from thence to Beersheba.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Then Abimelech went to him from Gerar, and Ahuzzath one of his friends, and Phichol the chief captain of his army.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26:29-35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That thou wilt do us no hurt, as we have not touched thee, and as we have done unto thee nothing but good, and have sent thee away in peace: thou art now the blessed of the LORD.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came to pass the same day, that Isaac’s servants came, and told him concerning the well which they had digged, and said unto him, We have found water.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Which were a grief of mind unto Isaac and to Rebekah.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27:3-6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Now therefore take, I pray thee, thy weapons, thy quiver and thy bow, and go out to the field, and take me some venison;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Rebekah spake unto Jacob her son, saying, Behold, I heard thy father speak unto Esau thy brother, saying,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27:9-15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Go now to the flock, and fetch me from thence two good kids of the goats; and I will make them savoury meat for thy father, such as he loveth: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My father peradventure will feel me, and I shall seem to him as a deceiver; and I shall bring a curse upon me, and not a blessing.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Rebekah took goodly raiment of her eldest son Esau, which were with her in the house, and put them upon Jacob her younger son: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The love of God is not soft sentiment; it is covenant loyalty that will not let go.</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27:18-21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came unto his father, and said, My father: and he said, Here am I; who art thou, my son?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Isaac said unto Jacob, Come near, I pray thee, that I may feel thee, my son, whether thou be my very son Esau or not.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27:24-30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said, Art thou my very son Esau? And he said, I am.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came near, and kissed him: and he smelled the smell of his raiment, and blessed him, and said, See, the smell of my son is as the smell of a field which the LORD hath blessed: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came to pass, as soon as Isaac had made an end of blessing Jacob, and Jacob was yet scarce gone out from the presence of Isaac his father, that Esau his brother came in from his hunting.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27:33-36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Isaac trembled very exceedingly, and said, Who? where is he that hath taken venison, and brought it me, and I have eaten of all before thou camest, and have blessed him? yea, and he shall be blessed.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said, Is not he rightly named Jacob? for he hath supplanted me these two times: he took away my birthright; and, behold, now he hath taken away my blessing. And he said, Hast thou not reserved a blessing for me?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Sin is never small. It always costs more than we planned to pay.</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27:39-45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Isaac his father answered and said unto him, Behold, thy dwelling shall be the fatness of the earth, and of the dew of heaven from above;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these words of Esau her elder son were told to Rebekah: and she sent and called Jacob her younger son, and said unto him, Behold, thy brother Esau, as touching thee, doth comfort himself, purposing to kill thee.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Until thy brother’s anger turn away from thee, and he forget that which thou hast done to him: then I will send, and fetch thee from thence: why should I be deprived also of you both in one day?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Sin is never small. It always costs more than we planned to pay.</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28:2-5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Arise, go to Padanaram, to the house of Bethuel thy mother’s father; and take thee a wife from thence of the daughters of Laban thy mother’s brother.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Isaac sent away Jacob: and he went to Padanaram unto Laban, son of Bethuel the Syrian, the brother of Rebekah, Jacob’s and Esau’s mother.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28:8-14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Esau seeing that the daughters of Canaan pleased not Isaac his father;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lighted upon a certain place, and tarried there all night, because the sun was set; and he took of the stones of that place, and put them for his pillows, and lay down in that place to sleep.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thy seed shall be as the dust of the earth, and thou shalt spread abroad to the west, and to the east, and to the north, and to the south: and in thee and in thy seed shall all the families of the earth be blessed.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28:17-20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was afraid, and said, How dreadful is this place! this is none other but the house of God, and this is the gate of heaven.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Jacob vowed a vow, saying, If God will be with me, and will keep me in this way that I go, and will give me bread to eat, and raiment to put on,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29:1-7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Then Jacob went on his journey, and came into the land of the people of the east.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Jacob said unto them, My brethren, whence be ye? And they said, Of Haran are we.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said, Lo, it is yet high day, neither is it time that the cattle should be gathered together: water ye the sheep, and go and feed them.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29:10-13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came to pass, when Jacob saw Rachel the daughter of Laban his mother’s brother, and the sheep of Laban his mother’s brother, that Jacob went near, and rolled the stone from the well’s mouth, and watered the flock of Laban his mother’s brother.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came to pass, when Laban heard the tidings of Jacob his sister’s son, that he ran to meet him, and embraced him, and kissed him, and brought him to his house. And he told Laban all these things.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29:16-22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Laban had two daughters: the name of the elder was Leah, and the name of the younger was Rachel.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Laban said, It is better that I give her to thee, than that I should give her to another man: abide with me.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Laban gathered together all the men of the place, and made a feast.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29:25-28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came to pass, that in the morning, behold, it was Leah: and he said to Laban, What is this thou hast done unto me? did not I serve with thee for Rachel? wherefore then hast thou beguiled me?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Jacob did so, and fulfilled her week: and he gave him Rachel his daughter to wife also.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29:31-30:2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when the LORD saw that Leah was hated, he opened her womb: but Rachel was barren.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she conceived again, and bare a son; and said, Now this time will my husband be joined unto me, because I have born him three sons: therefore was his name called Levi.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Jacob’s anger was kindled against Rachel: and he said, Am I in God’s stead, who hath withheld from thee the fruit of the womb?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30:5-8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Bilhah conceived, and bare Jacob a son.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Rachel said, With great wrestlings have I wrestled with my sister, and I have prevailed: and she called his name Naphtali.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30:11-17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Leah said, A troop cometh: and she called his name Gad.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Reuben went in the days of wheat harvest, and found mandrakes in the field, and brought them unto his mother Leah. Then Rachel said to Leah, Give me, I pray thee, of thy son’s mandrakes.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hearkened unto Leah, and she conceived, and bare Jacob the fifth son.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30:20-23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Leah said, God hath endued me with a good dowry; now will my husband dwell with me, because I have born him six sons: and she called his name Zebulun.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she conceived, and bare a son; and said, God hath taken away my reproach: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30:26-32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Give me my wives and my children, for whom I have served thee, and let me go: for thou knowest my service which I have done thee.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said unto him, Thou knowest how I have served thee, and how thy cattle was with me.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I will pass through all thy flock to day, removing from thence all the speckled and spotted cattle, and all the brown cattle among the sheep, and the spotted and speckled among the goats: and of such shall be my hire.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30:35-38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removed that day the he goats that were ringstraked and spotted, and all the she goats that were speckled and spotted, and every one that had some white in it, and all the brown among the sheep, and gave them into the hand of his sons.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set the rods which he had pilled before the flocks in the gutters in the watering troughs when the flocks came to drink, that they should conceive when they came to drink.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30:41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came to pass, whensoever the stronger cattle did conceive, that Jacob laid the rods before the eyes of the cattle in the gutters, that they might conceive among the rods.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THEN · WHO / WHAT / WHEN</a:t>
            </a:r>
            <a:endParaRPr lang="en-US" sz="2200" dirty="0"/>
          </a:p>
        </p:txBody>
      </p:sp>
      <p:sp>
        <p:nvSpPr>
          <p:cNvPr id="5" name="Shape 3"/>
          <p:cNvSpPr/>
          <p:nvPr/>
        </p:nvSpPr>
        <p:spPr>
          <a:xfrm>
            <a:off x="457200" y="914400"/>
            <a:ext cx="2679192" cy="2194560"/>
          </a:xfrm>
          <a:prstGeom prst="roundRect">
            <a:avLst>
              <a:gd name="adj" fmla="val 2500"/>
            </a:avLst>
          </a:prstGeom>
          <a:solidFill>
            <a:srgbClr val="1D2B1F"/>
          </a:solidFill>
          <a:ln w="12700">
            <a:solidFill>
              <a:srgbClr val="B89442"/>
            </a:solidFill>
            <a:prstDash val="solid"/>
          </a:ln>
        </p:spPr>
      </p:sp>
      <p:sp>
        <p:nvSpPr>
          <p:cNvPr id="6" name="Text 4"/>
          <p:cNvSpPr/>
          <p:nvPr/>
        </p:nvSpPr>
        <p:spPr>
          <a:xfrm>
            <a:off x="457200"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WHO</a:t>
            </a:r>
            <a:endParaRPr lang="en-US" sz="1500" dirty="0"/>
          </a:p>
        </p:txBody>
      </p:sp>
      <p:sp>
        <p:nvSpPr>
          <p:cNvPr id="7" name="Text 5"/>
          <p:cNvSpPr/>
          <p:nvPr/>
        </p:nvSpPr>
        <p:spPr>
          <a:xfrm>
            <a:off x="594360"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Author: Moses</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Audience: the redeemed nation of Israel at the edge of the Promised Land</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people emerge through the narrative of Isaac &amp; Jacob.</a:t>
            </a:r>
            <a:endParaRPr lang="en-US" sz="1050" dirty="0"/>
          </a:p>
        </p:txBody>
      </p:sp>
      <p:sp>
        <p:nvSpPr>
          <p:cNvPr id="8" name="Shape 6"/>
          <p:cNvSpPr/>
          <p:nvPr/>
        </p:nvSpPr>
        <p:spPr>
          <a:xfrm>
            <a:off x="3209544" y="914400"/>
            <a:ext cx="2679192" cy="2194560"/>
          </a:xfrm>
          <a:prstGeom prst="roundRect">
            <a:avLst>
              <a:gd name="adj" fmla="val 2500"/>
            </a:avLst>
          </a:prstGeom>
          <a:solidFill>
            <a:srgbClr val="1D2B1F"/>
          </a:solidFill>
          <a:ln w="12700">
            <a:solidFill>
              <a:srgbClr val="B89442"/>
            </a:solidFill>
            <a:prstDash val="solid"/>
          </a:ln>
        </p:spPr>
      </p:sp>
      <p:sp>
        <p:nvSpPr>
          <p:cNvPr id="9" name="Text 7"/>
          <p:cNvSpPr/>
          <p:nvPr/>
        </p:nvSpPr>
        <p:spPr>
          <a:xfrm>
            <a:off x="3209544"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WHAT</a:t>
            </a:r>
            <a:endParaRPr lang="en-US" sz="1500" dirty="0"/>
          </a:p>
        </p:txBody>
      </p:sp>
      <p:sp>
        <p:nvSpPr>
          <p:cNvPr id="10" name="Text 8"/>
          <p:cNvSpPr/>
          <p:nvPr/>
        </p:nvSpPr>
        <p:spPr>
          <a:xfrm>
            <a:off x="3346704"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Key theme: Beginnings — God creates, mankind falls, and grace begins its long march toward a Redeemer.</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structure: Genesis 25:19-30:43.</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doctrine: the character and saving purpose of God.</a:t>
            </a:r>
            <a:endParaRPr lang="en-US" sz="1050" dirty="0"/>
          </a:p>
        </p:txBody>
      </p:sp>
      <p:sp>
        <p:nvSpPr>
          <p:cNvPr id="11" name="Shape 9"/>
          <p:cNvSpPr/>
          <p:nvPr/>
        </p:nvSpPr>
        <p:spPr>
          <a:xfrm>
            <a:off x="5961888" y="914400"/>
            <a:ext cx="2679192" cy="2194560"/>
          </a:xfrm>
          <a:prstGeom prst="roundRect">
            <a:avLst>
              <a:gd name="adj" fmla="val 2500"/>
            </a:avLst>
          </a:prstGeom>
          <a:solidFill>
            <a:srgbClr val="1D2B1F"/>
          </a:solidFill>
          <a:ln w="12700">
            <a:solidFill>
              <a:srgbClr val="B89442"/>
            </a:solidFill>
            <a:prstDash val="solid"/>
          </a:ln>
        </p:spPr>
      </p:sp>
      <p:sp>
        <p:nvSpPr>
          <p:cNvPr id="12" name="Text 10"/>
          <p:cNvSpPr/>
          <p:nvPr/>
        </p:nvSpPr>
        <p:spPr>
          <a:xfrm>
            <a:off x="5961888"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WHEN</a:t>
            </a:r>
            <a:endParaRPr lang="en-US" sz="1500" dirty="0"/>
          </a:p>
        </p:txBody>
      </p:sp>
      <p:sp>
        <p:nvSpPr>
          <p:cNvPr id="13" name="Text 11"/>
          <p:cNvSpPr/>
          <p:nvPr/>
        </p:nvSpPr>
        <p:spPr>
          <a:xfrm>
            <a:off x="6099048"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Date: c. 1446-1406 BC.</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Stage: Abraham / Promise.</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Context: the redeemed nation of Israel at the edge of the Promised Land.</a:t>
            </a:r>
            <a:endParaRPr lang="en-US" sz="1050" dirty="0"/>
          </a:p>
        </p:txBody>
      </p:sp>
      <p:sp>
        <p:nvSpPr>
          <p:cNvPr id="14" name="Shape 12"/>
          <p:cNvSpPr/>
          <p:nvPr/>
        </p:nvSpPr>
        <p:spPr>
          <a:xfrm>
            <a:off x="457200" y="3246120"/>
            <a:ext cx="8229600" cy="1417320"/>
          </a:xfrm>
          <a:prstGeom prst="roundRect">
            <a:avLst>
              <a:gd name="adj" fmla="val 3871"/>
            </a:avLst>
          </a:prstGeom>
          <a:solidFill>
            <a:srgbClr val="29372B"/>
          </a:solidFill>
          <a:ln w="12700">
            <a:solidFill>
              <a:srgbClr val="29372B"/>
            </a:solidFill>
            <a:prstDash val="solid"/>
          </a:ln>
        </p:spPr>
      </p:sp>
      <p:sp>
        <p:nvSpPr>
          <p:cNvPr id="15" name="Text 13"/>
          <p:cNvSpPr/>
          <p:nvPr/>
        </p:nvSpPr>
        <p:spPr>
          <a:xfrm>
            <a:off x="640080" y="3310128"/>
            <a:ext cx="7863840" cy="1298448"/>
          </a:xfrm>
          <a:prstGeom prst="rect">
            <a:avLst/>
          </a:prstGeom>
          <a:noFill/>
          <a:ln/>
        </p:spPr>
        <p:txBody>
          <a:bodyPr wrap="square" rtlCol="0" anchor="t"/>
          <a:lstStyle/>
          <a:p>
            <a:pPr indent="0" marL="0">
              <a:lnSpc>
                <a:spcPct val="100000"/>
              </a:lnSpc>
              <a:buNone/>
            </a:pPr>
            <a:r>
              <a:rPr lang="en-US" sz="850" b="1" dirty="0">
                <a:solidFill>
                  <a:srgbClr val="B89442"/>
                </a:solidFill>
                <a:latin typeface="Calibri" pitchFamily="34" charset="0"/>
                <a:ea typeface="Calibri" pitchFamily="34" charset="-122"/>
                <a:cs typeface="Calibri" pitchFamily="34" charset="-120"/>
              </a:rPr>
              <a:t>BIBLE TRIAGE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BLACK TAG — Primary: The character and authority of God revealed here is non-negotiable. Beginnings — God creates, mankind falls, and grace begins its long march toward a Redeemer stands on who God is. Die on this hill.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RED TAG — Secondary: How a local church orders its life around this truth (worship, leadership, practice) is worth careful conviction, but it shapes church family rather than salvation.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YELLOW/GREEN TAG — Tertiary: Timing details, cultural specifics, and disputed minor points here are worth exploring with an open hand. Study them; don't divide over them.</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THEN · OBSERVE</a:t>
            </a:r>
            <a:endParaRPr lang="en-US" sz="2200" dirty="0"/>
          </a:p>
        </p:txBody>
      </p:sp>
      <p:sp>
        <p:nvSpPr>
          <p:cNvPr id="5" name="Shape 3"/>
          <p:cNvSpPr/>
          <p:nvPr/>
        </p:nvSpPr>
        <p:spPr>
          <a:xfrm>
            <a:off x="457200" y="868680"/>
            <a:ext cx="8229600" cy="3749040"/>
          </a:xfrm>
          <a:prstGeom prst="roundRect">
            <a:avLst>
              <a:gd name="adj" fmla="val 1463"/>
            </a:avLst>
          </a:prstGeom>
          <a:solidFill>
            <a:srgbClr val="1D2B1F"/>
          </a:solidFill>
          <a:ln w="12700">
            <a:solidFill>
              <a:srgbClr val="1D2B1F"/>
            </a:solidFill>
            <a:prstDash val="solid"/>
          </a:ln>
        </p:spPr>
      </p:sp>
      <p:sp>
        <p:nvSpPr>
          <p:cNvPr id="6" name="Text 4"/>
          <p:cNvSpPr/>
          <p:nvPr/>
        </p:nvSpPr>
        <p:spPr>
          <a:xfrm>
            <a:off x="731520" y="960120"/>
            <a:ext cx="7680960" cy="3566160"/>
          </a:xfrm>
          <a:prstGeom prst="rect">
            <a:avLst/>
          </a:prstGeom>
          <a:noFill/>
          <a:ln/>
        </p:spPr>
        <p:txBody>
          <a:bodyPr wrap="square" rtlCol="0" anchor="t"/>
          <a:lstStyle/>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THE TEXT ITSELF: Read Genesis 25:19-30:43 slowly. Notice God is the acting subject — He initiates before anyone responds. Write this down: grace always moves first.</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STRUCTURE: This passage is built with intention, not accident. Mark the repeated words and the turning point — the Holy Spirit underlines what matters most.</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Leaders of the conservative movement note that Genesis must be read in its covenant context, not lifted out as isolated proverbs. The whole book argues one case: beginnings — God creates, mankind falls, and grace begins its long march toward a Redeemer.</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Conservative scholars observe that the original audience — the redeemed nation of Israel at the edge of the Promised Land — heard this as a word for their crisis, not a timeless abstraction. Get the THEN right and the TODAY lands true.</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Watch the contrast between human failure and divine faithfulness. The people stumble; God does not. [LINK: John 1:1-3]</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Look at what God is doing here: He is not merely correcting behavior, He is forming a people for His own glory. [LINK: Romans 5:12-21]</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Here's the thing — this passage refuses to leave you neutral. It diagnoses the heart and then offers the only cure. [LINK: Galatians 3:16]</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Every detail is a step off the beach and into the interior. This is the map: beginnings — God creates, mankind falls, and grace begins its long march toward a Redeemer.</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TODAY · DIAGNOSIS (Q1-Q4)</a:t>
            </a:r>
            <a:endParaRPr lang="en-US" sz="2200" dirty="0"/>
          </a:p>
        </p:txBody>
      </p:sp>
      <p:sp>
        <p:nvSpPr>
          <p:cNvPr id="5" name="Shape 3"/>
          <p:cNvSpPr/>
          <p:nvPr/>
        </p:nvSpPr>
        <p:spPr>
          <a:xfrm>
            <a:off x="457200" y="868680"/>
            <a:ext cx="8229600" cy="1051560"/>
          </a:xfrm>
          <a:prstGeom prst="roundRect">
            <a:avLst>
              <a:gd name="adj" fmla="val 5217"/>
            </a:avLst>
          </a:prstGeom>
          <a:solidFill>
            <a:srgbClr val="29372B"/>
          </a:solidFill>
          <a:ln w="12700">
            <a:solidFill>
              <a:srgbClr val="B89442"/>
            </a:solidFill>
            <a:prstDash val="solid"/>
          </a:ln>
        </p:spPr>
      </p:sp>
      <p:sp>
        <p:nvSpPr>
          <p:cNvPr id="6" name="Text 4"/>
          <p:cNvSpPr/>
          <p:nvPr/>
        </p:nvSpPr>
        <p:spPr>
          <a:xfrm>
            <a:off x="685800" y="932688"/>
            <a:ext cx="7772400" cy="914400"/>
          </a:xfrm>
          <a:prstGeom prst="rect">
            <a:avLst/>
          </a:prstGeom>
          <a:noFill/>
          <a:ln/>
        </p:spPr>
        <p:txBody>
          <a:bodyPr wrap="square" rtlCol="0" anchor="ctr"/>
          <a:lstStyle/>
          <a:p>
            <a:pPr indent="0" marL="0">
              <a:buNone/>
            </a:pPr>
            <a:r>
              <a:rPr lang="en-US" sz="1200" b="1" dirty="0">
                <a:solidFill>
                  <a:srgbClr val="F0E6CC"/>
                </a:solidFill>
                <a:latin typeface="Calibri" pitchFamily="34" charset="0"/>
                <a:ea typeface="Calibri" pitchFamily="34" charset="-122"/>
                <a:cs typeface="Calibri" pitchFamily="34" charset="-120"/>
              </a:rPr>
              <a:t>FALLEN CONDITION FOCUS: This passage exposes our tendency to want the gifts of God while keeping our distance from God Himself.</a:t>
            </a:r>
            <a:endParaRPr lang="en-US" sz="1200" dirty="0"/>
          </a:p>
        </p:txBody>
      </p:sp>
      <p:sp>
        <p:nvSpPr>
          <p:cNvPr id="7" name="Shape 5"/>
          <p:cNvSpPr/>
          <p:nvPr/>
        </p:nvSpPr>
        <p:spPr>
          <a:xfrm>
            <a:off x="457200" y="2057400"/>
            <a:ext cx="8229600" cy="2560320"/>
          </a:xfrm>
          <a:prstGeom prst="roundRect">
            <a:avLst>
              <a:gd name="adj" fmla="val 2143"/>
            </a:avLst>
          </a:prstGeom>
          <a:solidFill>
            <a:srgbClr val="1D2B1F"/>
          </a:solidFill>
          <a:ln w="12700">
            <a:solidFill>
              <a:srgbClr val="1D2B1F"/>
            </a:solidFill>
            <a:prstDash val="solid"/>
          </a:ln>
        </p:spPr>
      </p:sp>
      <p:sp>
        <p:nvSpPr>
          <p:cNvPr id="8" name="Text 6"/>
          <p:cNvSpPr/>
          <p:nvPr/>
        </p:nvSpPr>
        <p:spPr>
          <a:xfrm>
            <a:off x="731520" y="2194560"/>
            <a:ext cx="7680960" cy="2286000"/>
          </a:xfrm>
          <a:prstGeom prst="rect">
            <a:avLst/>
          </a:prstGeom>
          <a:noFill/>
          <a:ln/>
        </p:spPr>
        <p:txBody>
          <a:bodyPr wrap="square" rtlCol="0" anchor="t"/>
          <a:lstStyle/>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Q1. Where in isaac &amp; jacob do you see your own heart described — not someone else's?</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Q2. What does this passage say is true about God that, if you really believed it on Monday morning, would change how you live?</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Q3. Be specific: name one place this week where you have been living as if this text were not true.</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Q4. What would repentance actually look like here — not in theory, but in your calendar, your wallet, your words?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TODAY · Q5 + CHALLENGE</a:t>
            </a:r>
            <a:endParaRPr lang="en-US" sz="2200" dirty="0"/>
          </a:p>
        </p:txBody>
      </p:sp>
      <p:sp>
        <p:nvSpPr>
          <p:cNvPr id="5" name="Shape 3"/>
          <p:cNvSpPr/>
          <p:nvPr/>
        </p:nvSpPr>
        <p:spPr>
          <a:xfrm>
            <a:off x="457200" y="868680"/>
            <a:ext cx="8229600" cy="914400"/>
          </a:xfrm>
          <a:prstGeom prst="roundRect">
            <a:avLst>
              <a:gd name="adj" fmla="val 6000"/>
            </a:avLst>
          </a:prstGeom>
          <a:solidFill>
            <a:srgbClr val="29372B"/>
          </a:solidFill>
          <a:ln w="12700">
            <a:solidFill>
              <a:srgbClr val="B89442"/>
            </a:solidFill>
            <a:prstDash val="solid"/>
          </a:ln>
        </p:spPr>
      </p:sp>
      <p:sp>
        <p:nvSpPr>
          <p:cNvPr id="6" name="Text 4"/>
          <p:cNvSpPr/>
          <p:nvPr/>
        </p:nvSpPr>
        <p:spPr>
          <a:xfrm>
            <a:off x="685800" y="914400"/>
            <a:ext cx="7772400" cy="822960"/>
          </a:xfrm>
          <a:prstGeom prst="rect">
            <a:avLst/>
          </a:prstGeom>
          <a:noFill/>
          <a:ln/>
        </p:spPr>
        <p:txBody>
          <a:bodyPr wrap="square" rtlCol="0" anchor="ctr"/>
          <a:lstStyle/>
          <a:p>
            <a:pPr indent="0" marL="0">
              <a:buNone/>
            </a:pPr>
            <a:r>
              <a:rPr lang="en-US" sz="1250" b="1" dirty="0">
                <a:solidFill>
                  <a:srgbClr val="F0E6CC"/>
                </a:solidFill>
                <a:latin typeface="Calibri" pitchFamily="34" charset="0"/>
                <a:ea typeface="Calibri" pitchFamily="34" charset="-122"/>
                <a:cs typeface="Calibri" pitchFamily="34" charset="-120"/>
              </a:rPr>
              <a:t>Q5 — PROCLAMATION: Who in your life needs to hear what Genesis Isaac &amp; Jacob reveals about God, and what is keeping you from telling them this week?</a:t>
            </a:r>
            <a:endParaRPr lang="en-US" sz="1250" dirty="0"/>
          </a:p>
        </p:txBody>
      </p:sp>
      <p:sp>
        <p:nvSpPr>
          <p:cNvPr id="7" name="Text 5"/>
          <p:cNvSpPr/>
          <p:nvPr/>
        </p:nvSpPr>
        <p:spPr>
          <a:xfrm>
            <a:off x="548640" y="1874520"/>
            <a:ext cx="8046720" cy="914400"/>
          </a:xfrm>
          <a:prstGeom prst="rect">
            <a:avLst/>
          </a:prstGeom>
          <a:noFill/>
          <a:ln/>
        </p:spPr>
        <p:txBody>
          <a:bodyPr wrap="square" rtlCol="0" anchor="t"/>
          <a:lstStyle/>
          <a:p>
            <a:pPr indent="0" marL="0">
              <a:buNone/>
            </a:pPr>
            <a:r>
              <a:rPr lang="en-US" sz="1150" dirty="0">
                <a:solidFill>
                  <a:srgbClr val="F0E6CC"/>
                </a:solidFill>
                <a:latin typeface="Calibri" pitchFamily="34" charset="0"/>
                <a:ea typeface="Calibri" pitchFamily="34" charset="-122"/>
                <a:cs typeface="Calibri" pitchFamily="34" charset="-120"/>
              </a:rPr>
              <a:t>Here's the thing: a truth this big was never meant to die in a notebook. Beginnings — God creates, mankind falls, and grace begins its long march toward a Redeemer — that is news, and news is for sharing. You don't have to be a scholar. You just have to point at the map and say, "Come and see."</a:t>
            </a:r>
            <a:endParaRPr lang="en-US" sz="1150" dirty="0"/>
          </a:p>
        </p:txBody>
      </p:sp>
      <p:sp>
        <p:nvSpPr>
          <p:cNvPr id="8" name="Shape 6"/>
          <p:cNvSpPr/>
          <p:nvPr/>
        </p:nvSpPr>
        <p:spPr>
          <a:xfrm>
            <a:off x="457200" y="2880360"/>
            <a:ext cx="8229600" cy="1737360"/>
          </a:xfrm>
          <a:prstGeom prst="roundRect">
            <a:avLst>
              <a:gd name="adj" fmla="val 3158"/>
            </a:avLst>
          </a:prstGeom>
          <a:solidFill>
            <a:srgbClr val="1D2B1F"/>
          </a:solidFill>
          <a:ln w="12700">
            <a:solidFill>
              <a:srgbClr val="B89442"/>
            </a:solidFill>
            <a:prstDash val="solid"/>
          </a:ln>
        </p:spPr>
      </p:sp>
      <p:sp>
        <p:nvSpPr>
          <p:cNvPr id="9" name="Text 7"/>
          <p:cNvSpPr/>
          <p:nvPr/>
        </p:nvSpPr>
        <p:spPr>
          <a:xfrm>
            <a:off x="685800" y="2971800"/>
            <a:ext cx="7772400" cy="1554480"/>
          </a:xfrm>
          <a:prstGeom prst="rect">
            <a:avLst/>
          </a:prstGeom>
          <a:noFill/>
          <a:ln/>
        </p:spPr>
        <p:txBody>
          <a:bodyPr wrap="square" rtlCol="0" anchor="t"/>
          <a:lstStyle/>
          <a:p>
            <a:pPr indent="0" marL="0">
              <a:buNone/>
            </a:pPr>
            <a:r>
              <a:rPr lang="en-US" sz="1150" dirty="0">
                <a:solidFill>
                  <a:srgbClr val="F0E6CC"/>
                </a:solidFill>
                <a:latin typeface="Calibri" pitchFamily="34" charset="0"/>
                <a:ea typeface="Calibri" pitchFamily="34" charset="-122"/>
                <a:cs typeface="Calibri" pitchFamily="34" charset="-120"/>
              </a:rPr>
              <a:t>CHALLENGE: This week, get off the beach. Take one concrete step into the interior of God's character that this lesson opened up — and take one person with you. Don't miss this: every trail in Genesis runs to the same summit. The God who acts in this passage is the God who put on flesh, went to a cross, and walked out of a tomb so that you could be His. [LINK: John 1:1-3] That is where this ends. That is where it always ends — at Jesus.</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TOMORROW · THE GOSPEL THREAD</a:t>
            </a:r>
            <a:endParaRPr lang="en-US" sz="2200" dirty="0"/>
          </a:p>
        </p:txBody>
      </p:sp>
      <p:sp>
        <p:nvSpPr>
          <p:cNvPr id="5" name="Shape 3"/>
          <p:cNvSpPr/>
          <p:nvPr/>
        </p:nvSpPr>
        <p:spPr>
          <a:xfrm>
            <a:off x="457200" y="914400"/>
            <a:ext cx="4023360" cy="1463040"/>
          </a:xfrm>
          <a:prstGeom prst="roundRect">
            <a:avLst>
              <a:gd name="adj" fmla="val 3750"/>
            </a:avLst>
          </a:prstGeom>
          <a:solidFill>
            <a:srgbClr val="1D2B1F"/>
          </a:solidFill>
          <a:ln w="12700">
            <a:solidFill>
              <a:srgbClr val="B89442"/>
            </a:solidFill>
            <a:prstDash val="solid"/>
          </a:ln>
        </p:spPr>
      </p:sp>
      <p:sp>
        <p:nvSpPr>
          <p:cNvPr id="6" name="Text 4"/>
          <p:cNvSpPr/>
          <p:nvPr/>
        </p:nvSpPr>
        <p:spPr>
          <a:xfrm>
            <a:off x="594360" y="10058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PROMISE OPENED
</a:t>
            </a:r>
            <a:pPr indent="0" marL="0">
              <a:buNone/>
            </a:pPr>
            <a:r>
              <a:rPr lang="en-US" sz="1000" dirty="0">
                <a:solidFill>
                  <a:srgbClr val="F0E6CC"/>
                </a:solidFill>
                <a:latin typeface="Calibri" pitchFamily="34" charset="0"/>
                <a:ea typeface="Calibri" pitchFamily="34" charset="-122"/>
                <a:cs typeface="Calibri" pitchFamily="34" charset="-120"/>
              </a:rPr>
              <a:t>Genesis does not stand alone. It is a thread in one tapestry, and the tapestry is Christ. What is begun here strains forward toward the One who fulfills it. [LINK: John 1:1-3]</a:t>
            </a:r>
            <a:endParaRPr lang="en-US" sz="1200" dirty="0"/>
          </a:p>
        </p:txBody>
      </p:sp>
      <p:sp>
        <p:nvSpPr>
          <p:cNvPr id="7" name="Shape 5"/>
          <p:cNvSpPr/>
          <p:nvPr/>
        </p:nvSpPr>
        <p:spPr>
          <a:xfrm>
            <a:off x="4663440" y="914400"/>
            <a:ext cx="4023360" cy="1463040"/>
          </a:xfrm>
          <a:prstGeom prst="roundRect">
            <a:avLst>
              <a:gd name="adj" fmla="val 3750"/>
            </a:avLst>
          </a:prstGeom>
          <a:solidFill>
            <a:srgbClr val="1D2B1F"/>
          </a:solidFill>
          <a:ln w="12700">
            <a:solidFill>
              <a:srgbClr val="B89442"/>
            </a:solidFill>
            <a:prstDash val="solid"/>
          </a:ln>
        </p:spPr>
      </p:sp>
      <p:sp>
        <p:nvSpPr>
          <p:cNvPr id="8" name="Text 6"/>
          <p:cNvSpPr/>
          <p:nvPr/>
        </p:nvSpPr>
        <p:spPr>
          <a:xfrm>
            <a:off x="4800600" y="10058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NEED EXPOSED
</a:t>
            </a:r>
            <a:pPr indent="0" marL="0">
              <a:buNone/>
            </a:pPr>
            <a:r>
              <a:rPr lang="en-US" sz="1000" dirty="0">
                <a:solidFill>
                  <a:srgbClr val="F0E6CC"/>
                </a:solidFill>
                <a:latin typeface="Calibri" pitchFamily="34" charset="0"/>
                <a:ea typeface="Calibri" pitchFamily="34" charset="-122"/>
                <a:cs typeface="Calibri" pitchFamily="34" charset="-120"/>
              </a:rPr>
              <a:t>This passage shows us a gap no human effort can close — between a holy God and an unholy people. That gap is the silhouette of a cross. The diagnosis here is precisely the wound the gospel heals.</a:t>
            </a:r>
            <a:endParaRPr lang="en-US" sz="1200" dirty="0"/>
          </a:p>
        </p:txBody>
      </p:sp>
      <p:sp>
        <p:nvSpPr>
          <p:cNvPr id="9" name="Shape 7"/>
          <p:cNvSpPr/>
          <p:nvPr/>
        </p:nvSpPr>
        <p:spPr>
          <a:xfrm>
            <a:off x="457200" y="2514600"/>
            <a:ext cx="4023360" cy="1463040"/>
          </a:xfrm>
          <a:prstGeom prst="roundRect">
            <a:avLst>
              <a:gd name="adj" fmla="val 3750"/>
            </a:avLst>
          </a:prstGeom>
          <a:solidFill>
            <a:srgbClr val="1D2B1F"/>
          </a:solidFill>
          <a:ln w="12700">
            <a:solidFill>
              <a:srgbClr val="B89442"/>
            </a:solidFill>
            <a:prstDash val="solid"/>
          </a:ln>
        </p:spPr>
      </p:sp>
      <p:sp>
        <p:nvSpPr>
          <p:cNvPr id="10" name="Text 8"/>
          <p:cNvSpPr/>
          <p:nvPr/>
        </p:nvSpPr>
        <p:spPr>
          <a:xfrm>
            <a:off x="594360" y="26060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SHADOW AND THE SUBSTANCE
</a:t>
            </a:r>
            <a:pPr indent="0" marL="0">
              <a:buNone/>
            </a:pPr>
            <a:r>
              <a:rPr lang="en-US" sz="1000" dirty="0">
                <a:solidFill>
                  <a:srgbClr val="F0E6CC"/>
                </a:solidFill>
                <a:latin typeface="Calibri" pitchFamily="34" charset="0"/>
                <a:ea typeface="Calibri" pitchFamily="34" charset="-122"/>
                <a:cs typeface="Calibri" pitchFamily="34" charset="-120"/>
              </a:rPr>
              <a:t>Conservative scholars observe that the patterns here — covenant, sacrifice, kingship, deliverance — are shadows cast backward by Jesus. See the shadow, then look up and find the One casting it. [LINK: Romans 5:12-21]</a:t>
            </a:r>
            <a:endParaRPr lang="en-US" sz="1200" dirty="0"/>
          </a:p>
        </p:txBody>
      </p:sp>
      <p:sp>
        <p:nvSpPr>
          <p:cNvPr id="11" name="Shape 9"/>
          <p:cNvSpPr/>
          <p:nvPr/>
        </p:nvSpPr>
        <p:spPr>
          <a:xfrm>
            <a:off x="4663440" y="2514600"/>
            <a:ext cx="4023360" cy="1463040"/>
          </a:xfrm>
          <a:prstGeom prst="roundRect">
            <a:avLst>
              <a:gd name="adj" fmla="val 3750"/>
            </a:avLst>
          </a:prstGeom>
          <a:solidFill>
            <a:srgbClr val="1D2B1F"/>
          </a:solidFill>
          <a:ln w="12700">
            <a:solidFill>
              <a:srgbClr val="B89442"/>
            </a:solidFill>
            <a:prstDash val="solid"/>
          </a:ln>
        </p:spPr>
      </p:sp>
      <p:sp>
        <p:nvSpPr>
          <p:cNvPr id="12" name="Text 10"/>
          <p:cNvSpPr/>
          <p:nvPr/>
        </p:nvSpPr>
        <p:spPr>
          <a:xfrm>
            <a:off x="4800600" y="26060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SUMMIT
</a:t>
            </a:r>
            <a:pPr indent="0" marL="0">
              <a:buNone/>
            </a:pPr>
            <a:r>
              <a:rPr lang="en-US" sz="1000" dirty="0">
                <a:solidFill>
                  <a:srgbClr val="F0E6CC"/>
                </a:solidFill>
                <a:latin typeface="Calibri" pitchFamily="34" charset="0"/>
                <a:ea typeface="Calibri" pitchFamily="34" charset="-122"/>
                <a:cs typeface="Calibri" pitchFamily="34" charset="-120"/>
              </a:rPr>
              <a:t>Every trail leads to the same summit. Isaac &amp; Jacob lifts our eyes from history, through our own hearts, to the risen Christ who reigns now and is coming again. [LINK: Galatians 3:16]</a:t>
            </a:r>
            <a:endParaRPr lang="en-US" sz="1200" dirty="0"/>
          </a:p>
        </p:txBody>
      </p:sp>
      <p:sp>
        <p:nvSpPr>
          <p:cNvPr id="13" name="Text 11"/>
          <p:cNvSpPr/>
          <p:nvPr/>
        </p:nvSpPr>
        <p:spPr>
          <a:xfrm>
            <a:off x="457200" y="4251960"/>
            <a:ext cx="8229600" cy="365760"/>
          </a:xfrm>
          <a:prstGeom prst="rect">
            <a:avLst/>
          </a:prstGeom>
          <a:noFill/>
          <a:ln/>
        </p:spPr>
        <p:txBody>
          <a:bodyPr wrap="square" rtlCol="0" anchor="ctr"/>
          <a:lstStyle/>
          <a:p>
            <a:pPr indent="0" marL="0">
              <a:buNone/>
            </a:pPr>
            <a:r>
              <a:rPr lang="en-US" sz="900" i="1" dirty="0">
                <a:solidFill>
                  <a:srgbClr val="B89442"/>
                </a:solidFill>
                <a:latin typeface="Calibri" pitchFamily="34" charset="0"/>
                <a:ea typeface="Calibri" pitchFamily="34" charset="-122"/>
                <a:cs typeface="Calibri" pitchFamily="34" charset="-120"/>
              </a:rPr>
              <a:t>Cross-references: [LINK: John 1:1-3]  [LINK: Romans 5:12-21]  [LINK: Galatians 3:16]</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1800" b="1" spc="200" kern="0" dirty="0">
                <a:solidFill>
                  <a:srgbClr val="B89442"/>
                </a:solidFill>
                <a:latin typeface="Calibri" pitchFamily="34" charset="0"/>
                <a:ea typeface="Calibri" pitchFamily="34" charset="-122"/>
                <a:cs typeface="Calibri" pitchFamily="34" charset="-120"/>
              </a:rPr>
              <a:t>MEMORY VERSE</a:t>
            </a:r>
            <a:endParaRPr lang="en-US" sz="1800" dirty="0"/>
          </a:p>
        </p:txBody>
      </p:sp>
      <p:sp>
        <p:nvSpPr>
          <p:cNvPr id="5" name="Shape 3"/>
          <p:cNvSpPr/>
          <p:nvPr/>
        </p:nvSpPr>
        <p:spPr>
          <a:xfrm>
            <a:off x="457200" y="822960"/>
            <a:ext cx="8229600" cy="1828800"/>
          </a:xfrm>
          <a:prstGeom prst="roundRect">
            <a:avLst>
              <a:gd name="adj" fmla="val 3000"/>
            </a:avLst>
          </a:prstGeom>
          <a:solidFill>
            <a:srgbClr val="1D2B1F"/>
          </a:solidFill>
          <a:ln w="12700">
            <a:solidFill>
              <a:srgbClr val="B89442"/>
            </a:solidFill>
            <a:prstDash val="solid"/>
          </a:ln>
        </p:spPr>
      </p:sp>
      <p:sp>
        <p:nvSpPr>
          <p:cNvPr id="6" name="Text 4"/>
          <p:cNvSpPr/>
          <p:nvPr/>
        </p:nvSpPr>
        <p:spPr>
          <a:xfrm>
            <a:off x="731520" y="914400"/>
            <a:ext cx="7680960" cy="1371600"/>
          </a:xfrm>
          <a:prstGeom prst="rect">
            <a:avLst/>
          </a:prstGeom>
          <a:noFill/>
          <a:ln/>
        </p:spPr>
        <p:txBody>
          <a:bodyPr wrap="square" rtlCol="0" anchor="ctr"/>
          <a:lstStyle/>
          <a:p>
            <a:pPr algn="ctr" indent="0" marL="0">
              <a:buNone/>
            </a:pPr>
            <a:r>
              <a:rPr lang="en-US" sz="1800" i="1" dirty="0">
                <a:solidFill>
                  <a:srgbClr val="F0E6CC"/>
                </a:solidFill>
                <a:latin typeface="Georgia" pitchFamily="34" charset="0"/>
                <a:ea typeface="Georgia" pitchFamily="34" charset="-122"/>
                <a:cs typeface="Georgia" pitchFamily="34" charset="-120"/>
              </a:rPr>
              <a:t>"And they said, We saw certainly that the LORD was with thee: and we said, Let there be now an oath betwixt us, even betwixt us and thee, and let us make a covenant with thee;"</a:t>
            </a:r>
            <a:endParaRPr lang="en-US" sz="1800" dirty="0"/>
          </a:p>
        </p:txBody>
      </p:sp>
      <p:sp>
        <p:nvSpPr>
          <p:cNvPr id="7" name="Text 5"/>
          <p:cNvSpPr/>
          <p:nvPr/>
        </p:nvSpPr>
        <p:spPr>
          <a:xfrm>
            <a:off x="731520" y="2240280"/>
            <a:ext cx="7680960" cy="320040"/>
          </a:xfrm>
          <a:prstGeom prst="rect">
            <a:avLst/>
          </a:prstGeom>
          <a:noFill/>
          <a:ln/>
        </p:spPr>
        <p:txBody>
          <a:bodyPr wrap="square" rtlCol="0" anchor="ctr"/>
          <a:lstStyle/>
          <a:p>
            <a:pPr algn="ctr" indent="0" marL="0">
              <a:buNone/>
            </a:pPr>
            <a:r>
              <a:rPr lang="en-US" sz="1300" b="1" dirty="0">
                <a:solidFill>
                  <a:srgbClr val="B89442"/>
                </a:solidFill>
                <a:latin typeface="Calibri" pitchFamily="34" charset="0"/>
                <a:ea typeface="Calibri" pitchFamily="34" charset="-122"/>
                <a:cs typeface="Calibri" pitchFamily="34" charset="-120"/>
              </a:rPr>
              <a:t>— Genesis 26:28</a:t>
            </a:r>
            <a:endParaRPr lang="en-US" sz="1300" dirty="0"/>
          </a:p>
        </p:txBody>
      </p:sp>
      <p:sp>
        <p:nvSpPr>
          <p:cNvPr id="8" name="Text 6"/>
          <p:cNvSpPr/>
          <p:nvPr/>
        </p:nvSpPr>
        <p:spPr>
          <a:xfrm>
            <a:off x="548640" y="2788920"/>
            <a:ext cx="8046720" cy="1737360"/>
          </a:xfrm>
          <a:prstGeom prst="rect">
            <a:avLst/>
          </a:prstGeom>
          <a:noFill/>
          <a:ln/>
        </p:spPr>
        <p:txBody>
          <a:bodyPr wrap="square" rtlCol="0" anchor="t"/>
          <a:lstStyle/>
          <a:p>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THEN: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Moses delivered Isaac &amp; Jacob to the redeemed nation of Israel at the edge of the Promised Land around c. 1446-1406 BC.
</a:t>
            </a:r>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TODAY: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It exposes our hearts and calls us off the beach into real repentance and trust.
</a:t>
            </a:r>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TOMORROW: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And it points, like every passage, straight to the risen Christ.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NetPraise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Isaac &amp; Jacob</dc:title>
  <dc:subject>Genesis 25:19-30:43</dc:subject>
  <dc:creator>Jim Yarborough — The Continent of God · NetPraise</dc:creator>
  <cp:lastModifiedBy>Jim Yarborough — The Continent of God · NetPraise</cp:lastModifiedBy>
  <cp:revision>1</cp:revision>
  <dcterms:created xsi:type="dcterms:W3CDTF">2026-05-27T16:12:51Z</dcterms:created>
  <dcterms:modified xsi:type="dcterms:W3CDTF">2026-05-27T16:12:51Z</dcterms:modified>
</cp:coreProperties>
</file>