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 The Continent of God. I'm Jim, and I want to say it again the way I say it every single week: the Bible is not a pond, it is a continent. And most Christians — good, sincere, church-going Christians — never leave the beach. They wade in ankle-deep, get a little wet, and go home.
[PAUSE]
Not us. Not today. Today we get off the beach. This is Genesis, Lesson 4b, Part B — Isaac &amp; Jacob. And this is the map.
Here's our main idea, and I want you to write this down: Beginnings — God creates, mankind falls, and grace begins its long march toward a Redeemer — and Isaac &amp; Jacob is the place God makes it unmistakable.
That is the trail we are walking today. So grab your Bible, grab a pen, and let's take one more step into the interior.
[PRAY] Father, get us off the beach. Open the Book and open our hearts, and lead us all the way to Your Son. In Jesus' name, 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read a word, you have to know where you are standing on the map. The whole story of God runs in one line: Creation and Fall, then Abraham and the Promise, then the Exodus and the Law, then Kings and the Temple, then Exile and Return, then Jesus fulfills it all, then the Church and the Spirit, and finally the New Creation.
Right here — Abraham / Promise — that's where we are. That's the "you are here" pin on the map.
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
Don't miss this: you cannot understand what God is saying until you know who He was saying it to and what He was doing in that moment. Get the THEN right, and the TODAY and the TOMORROW will land with full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31:1-7. Follow along in the King James as I read.
Verse 1: "And he heard the words of Laban’s sons, saying, Jacob hath taken away all that was our father’s; and of that which was our father’s hath he gotten all this glory." Verse 4: "And Jacob sent and called Rachel and Leah to the field unto his flock," Verse 7: "And your father hath deceived me, and changed my wages ten times; but God suffered him not to hurt me."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31:10-13. Follow along in the King James as I read.
Verse 10: "And it came to pass at the time that the cattle conceived, that I lifted up mine eyes, and saw in a dream, and, behold, the rams which leaped upon the cattle were ringstraked, speckled, and grisled." Verse 13: "I am the God of Bethel, where thou anointedst the pillar, and where thou vowedst a vow unto me: now arise, get thee out from this land, and return unto the land of thy kindred."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31:16-23. Follow along in the King James as I read.
Verse 16: "For all the riches which God hath taken from our father, that is ours, and our children’s: now then, whatsoever God hath said unto thee, do." Verse 20: "And Jacob stole away unawares to Laban the Syrian, in that he told him not that he fled." Verse 23: "And he took his brethren with him, and pursued after him seven days’ journey; and they overtook him in the mount Gilead."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31:26-29. Follow along in the King James as I read.
Verse 26: "And Laban said to Jacob, What hast thou done, that thou hast stolen away unawares to me, and carried away my daughters, as captives taken with the sword?" Verse 29: "It is in the power of my hand to do you hurt: but the God of your father spake unto me yesternight, saying, Take thou heed that thou speak not to Jacob either good or bad."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31:32-39. Follow along in the King James as I read.
Verse 32: "With whomsoever thou findest thy gods, let him not live: before our brethren discern thou what is thine with me, and take it to thee. For Jacob knew not that Rachel had stolen them." Verse 36: "And Jacob was wroth, and chode with Laban: and Jacob answered and said to Laban, What is my trespass? what is my sin, that thou hast so hotly pursued after me?" Verse 39: "That which was torn of beasts I brought not unto thee; I bare the loss of it; of my hand didst thou require it, whether stolen by day, or stolen by night."
[PAUSE]
Now here's the thing — look at what God is doing here. Sin is never small. It always costs more than we planned to pay.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31:42-45. Follow along in the King James as I read.
Verse 42: "Except the God of my father, the God of Abraham, and the fear of Isaac, had been with me, surely thou hadst sent me away now empty. God hath seen mine affliction and the labour of my hands, and rebuked thee yesternight." Verse 45: "And Jacob took a stone, and set it up for a pillar."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31:48-55. Follow along in the King James as I read.
Verse 48: "And Laban said, This heap is a witness between me and thee this day. Therefore was the name of it called Galeed;" Verse 51: "And Laban said to Jacob, Behold this heap, and behold this pillar, which I have cast betwixt me and thee:" Verse 55: "And early in the morning Laban rose up, and kissed his sons and his daughters, and blessed them: and Laban departed, and returned unto his place."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32:3-6. Follow along in the King James as I read.
Verse 3: "And Jacob sent messengers before him to Esau his brother unto the land of Seir, the country of Edom." Verse 6: "And the messengers returned to Jacob, saying, We came to thy brother Esau, and also he cometh to meet thee, and four hundred men with him."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32:9-16. Follow along in the King James as I read.
Verse 9: "And Jacob said, O God of my father Abraham, and God of my father Isaac, the LORD which saidst unto me, Return unto thy country, and to thy kindred, and I will deal well with thee:" Verse 12: "And thou saidst, I will surely do thee good, and make thy seed as the sand of the sea, which cannot be numbered for multitude." Verse 16: "And he delivered them into the hand of his servants, every drove by themselves; and said unto his servants, Pass over before me, and put a space betwixt drove and drove."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32:19-22. Follow along in the King James as I read.
Verse 19: "And so commanded he the second, and the third, and all that followed the droves, saying, On this manner shall ye speak unto Esau, when ye find him." Verse 22: "And he rose up that night, and took his two wives, and his two womenservants, and his eleven sons, and passed over the ford Jabbok."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32:25-31. Follow along in the King James as I read.
Verse 25: "And when he saw that he prevailed not against him, he touched the hollow of his thigh; and the hollow of Jacob’s thigh was out of joint, as he wrestled with him." Verse 28: "And he said, Thy name shall be called no more Jacob, but Israel: for as a prince hast thou power with God and with men, and hast prevailed." Verse 31: "And as he passed over Penuel the sun rose upon him, and he halted upon his thigh."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33:3-6. Follow along in the King James as I read.
Verse 3: "And he passed over before them, and bowed himself to the ground seven times, until he came near to his brother." Verse 6: "Then the handmaidens came near, they and their children, and they bowed themselves."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33:9-15. Follow along in the King James as I read.
Verse 9: "And Esau said, I have enough, my brother; keep that thou hast unto thyself." Verse 12: "And he said, Let us take our journey, and let us go, and I will go before thee." Verse 15: "And Esau said, Let me now leave with thee some of the folk that are with me. And he said, What needeth it? let me find grace in the sight of my lord."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33:19-34:2. Follow along in the King James as I read.
Verse 19: "And he bought a parcel of a field, where he had spread his tent, at the hand of the children of Hamor, Shechem’s father, for an hundred pieces of money." Verse 2: "And when Shechem the son of Hamor the Hivite, prince of the country, saw her, he took her, and lay with her, and defiled her."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34:5-11. Follow along in the King James as I read.
Verse 5: "And Jacob heard that he had defiled Dinah his daughter: now his sons were with his cattle in the field: and Jacob held his peace until they were come." Verse 8: "And Hamor communed with them, saying, The soul of my son Shechem longeth for your daughter: I pray you give her him to wife." Verse 11: "And Shechem said unto her father and unto her brethren, Let me find grace in your eyes, and what ye shall say unto me I will give."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34:14-18. Follow along in the King James as I read.
Verse 14: "And they said unto them, We cannot do this thing, to give our sister to one that is uncircumcised; for that were a reproach unto us:" Verse 18: "And their words pleased Hamor, and Shechem Hamor’s son."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34:21-27. Follow along in the King James as I read.
Verse 21: "These men are peaceable with us; therefore let them dwell in the land, and trade therein; for the land, behold, it is large enough for them; let us take their daughters to us for wives, and let us give them our daughters." Verse 24: "And unto Hamor and unto Shechem his son hearkened all that went out of the gate of his city; and every male was circumcised, all that went out of the gate of his city." Verse 27: "The sons of Jacob came upon the slain, and spoiled the city, because they had defiled their sister."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34:30-35:3. Follow along in the King James as I read.
Verse 30: "And Jacob said to Simeon and Levi, Ye have troubled me to make me to stink among the inhabitants of the land, among the Canaanites and the Perizzites: and I being few in number, they shall gather themselves together against me, and slay me; and I shall be destroyed, I and my house." Verse 3: "And let us arise, and go up to Bethel; and I will make there an altar unto God, who answered me in the day of my distress, and was with me in the way which I went."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35:6-12. Follow along in the King James as I read.
Verse 6: "So Jacob came to Luz, which is in the land of Canaan, that is, Bethel, he and all the people that were with him." Verse 9: "And God appeared unto Jacob again, when he came out of Padanaram, and blessed him." Verse 12: "And the land which I gave Abraham and Isaac, to thee I will give it, and to thy seed after thee will I give the land."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35:15-18. Follow along in the King James as I read.
Verse 15: "And Jacob called the name of the place where God spake with him, Bethel." Verse 18: "And it came to pass, as her soul was in departing, (for she died) that she called his name Benoni: but his father called him Benjamin."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35:22-28. Follow along in the King James as I read.
Verse 22: "And it came to pass, when Israel dwelt in that land, that Reuben went and lay with Bilhah his father’s concubine: and Israel heard it. Now the sons of Jacob were twelve:" Verse 25: "And the sons of Bilhah, Rachel’s handmaid; Dan, and Naphtali:" Verse 28: "And the days of Isaac were an hundred and fourscore years."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36:2-5. Follow along in the King James as I read.
Verse 2: "Esau took his wives of the daughters of Canaan; Adah the daughter of Elon the Hittite, and Aholibamah the daughter of Anah the daughter of Zibeon the Hivite;" Verse 5: "And Aholibamah bare Jeush, and Jaalam, and Korah: these are the sons of Esau, which were born unto him in the land of Canaan."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36:9-15. Follow along in the King James as I read.
Verse 9: "And these are the generations of Esau the father of the Edomites in mount Seir:" Verse 12: "And Timna was concubine to Eliphaz Esau’s son; and she bare to Eliphaz Amalek: these were the sons of Adah Esau’s wife." Verse 15: "These were dukes of the sons of Esau: the sons of Eliphaz the firstborn son of Esau; duke Teman, duke Omar, duke Zepho, duke Kenaz,"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36:18-21. Follow along in the King James as I read.
Verse 18: "And these are the sons of Aholibamah Esau’s wife; duke Jeush, duke Jaalam, duke Korah: these were the dukes that came of Aholibamah the daughter of Anah, Esau’s wife." Verse 21: "And Dishon, and Ezer, and Dishan: these are the dukes of the Horites, the children of Seir in the land of Edom."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36:24-31. Follow along in the King James as I read.
Verse 24: "And these are the children of Zibeon; both Ajah, and Anah: this was that Anah that found the mules in the wilderness, as he fed the asses of Zibeon his father." Verse 28: "The children of Dishan are these; Uz, and Aran." Verse 31: "And these are the kings that reigned in the land of Edom, before there reigned any king over the children of Israel."
[PAUSE]
Now here's the thing — look at what God is doing here. There is a throne behind the thrones, and the One who sits on it never abdicates.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36:34-37. Follow along in the King James as I read.
Verse 34: "And Jobab died, and Husham of the land of Temani reigned in his stead." Verse 37: "And Samlah died, and Saul of Rehoboth by the river reigned in his stead."
[PAUSE]
Now here's the thing — look at what God is doing here. There is a throne behind the thrones, and the One who sits on it never abdicates.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36:40. Follow along in the King James as I read.
Verse 40: "And these are the names of the dukes that came of Esau, according to their families, after their places, by their names; duke Timnah, duke Alvah, duke Jetheth,"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slow down and do a little Bible triage on the facts. THEN — the who, the what, and the when.
WHO. Genesis comes to us through Moses, written to the redeemed nation of Israel at the edge of the Promised Land. Real people, real place, real pressure.
WHAT. The heartbeat of this book is one thing: beginnings — God creates, mankind falls, and grace begins its long march toward a Redeemer. Everything in Genesis 31:1-36:43 serves that one argument.
WHEN. We are looking at roughly c. 1446-1406 BC. Hold that date in your mind — it keeps us honest and keeps the text in its own world before we drag it into ours.
Write this down: context is not optional. It is the floor we stand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observe. Before we apply anything, we have to actually see what is on the page. So let's walk the trail slowly.
Observation 1. THE TEXT ITSELF: Read Genesis 31:1-36:43 slowly. Notice God is the acting subject — He initiates before anyone responds. Write this down: grace always moves first.
Observation 2. STRUCTURE: This passage is built with intention, not accident. Mark the repeated words and the turning point — the Holy Spirit underlines what matters most.
Observation 3. Leaders of the conservative movement note that Genesis must be read in its covenant context, not lifted out as isolated proverbs. The whole book argues one case: beginnings — God creates, mankind falls, and grace begins its long march toward a Redeemer.
Observation 4. Conservative scholars observe that the original audience — the redeemed nation of Israel at the edge of the Promised Land — heard this as a word for their crisis, not a timeless abstraction. Get the THEN right and the TODAY lands true.
Observation 5. Watch the contrast between human failure and divine faithfulness. The people stumble; God does not.
Observation 6. Look at what God is doing here: He is not merely correcting behavior, He is forming a people for His own glory.
Observation 7. Here's the thing — this passage refuses to leave you neutral. It diagnoses the heart and then offers the only cure.
Observation 8. Every detail is a step off the beach and into the interior. This is the map: beginnings — God creates, mankind falls, and grace begins its long march toward a Redeemer.
Do you see it? This is what I mean by getting off the beach. The treasure was never in the shallows. It is right here in the details of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was THEN. Now TODAY. Because if all we do is learn ancient history, we have missed the whole point. This Book reads us.
FALLEN CONDITION FOCUS: This passage exposes our tendency to hide our sin and manage our image rather than confess and be cleansed.
So let's get personal. Four questions — and don't answer the easy way.
Question 1. Where in isaac &amp; jacob do you see your own heart described — not someone else's?
Question 2. What does this passage say is true about God that, if you really believed it on Monday morning, would change how you live?
Question 3. Be specific: name one place this week where you have been living as if this text were not true.
Question 4. What would repentance actually look like here — not in theory, but in your calendar, your wallet, your words?
[PAUSE] Sit in that. Don't rush past the discomfort. That discomfort is the Surgeon's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 PROCLAMATION: Who in your life needs to hear what Genesis Isaac &amp; Jacob reveals about God, and what is keeping you from telling them this week?
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
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grounded us. TODAY cut us. Now TOMORROW lifts us — because every trail on this continent leads to one summit, and His name is Jesus.
THE PROMISE OPENED. Genesis does not stand alone. It is a thread in one tapestry, and the tapestry is Christ. What is begun here strains forward toward the One who fulfills it.
THE NEED EXPOSED. This passage shows us a gap no human effort can close — between a holy God and an unholy people. That gap is the silhouette of a cross. The diagnosis here is precisely the wound the gospel heals.
THE SHADOW AND THE SUBSTANCE. Conservative scholars observe that the patterns here — covenant, sacrifice, kingship, deliverance — are shadows cast backward by Jesus. See the shadow, then look up and find the One casting it.
THE SUMMIT. Every trail leads to the same summit. Isaac &amp; Jacob lifts our eyes from history, through our own hearts, to the risen Christ who reigns now and is coming again.
Don't miss this: the Old shadows and the New light are one story. This is the map, and the map ends at an empty tomb.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seal it with the memory verse. Hide this one in your heart: "And I have oxen, and asses, flocks, and menservants, and womenservants: and I have sent to tell my lord, that I may find grace in thy sight." — that's Genesis 32:5.
Here is the whole trail in three sentences. THEN: Moses delivered Isaac &amp; Jacob to the redeemed nation of Israel at the edge of the Promised Land around c. 1446-1406 BC. TODAY: It exposes our hearts and calls us off the beach into real repentance and trust. TOMORROW: And it points, like every passage, straight to the risen Christ.
[PRAY] Father, thank You for taking us off the beach today. Write this word on our hearts. Make us doers and not hearers only, and let everything we have seen drive us deeper into Jesus, in whose name we pray, amen.
That's Lesson done. Keep walking. The interior is wide, and the King is good. I'll see you on the next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320040"/>
            <a:ext cx="8229600" cy="365760"/>
          </a:xfrm>
          <a:prstGeom prst="rect">
            <a:avLst/>
          </a:prstGeom>
          <a:noFill/>
          <a:ln/>
        </p:spPr>
        <p:txBody>
          <a:bodyPr wrap="square" rtlCol="0" anchor="ctr"/>
          <a:lstStyle/>
          <a:p>
            <a:pPr indent="0" marL="0">
              <a:buNone/>
            </a:pPr>
            <a:r>
              <a:rPr lang="en-US" sz="1300" b="1" spc="200" kern="0" dirty="0">
                <a:solidFill>
                  <a:srgbClr val="B89442"/>
                </a:solidFill>
                <a:latin typeface="Calibri" pitchFamily="34" charset="0"/>
                <a:ea typeface="Calibri" pitchFamily="34" charset="-122"/>
                <a:cs typeface="Calibri" pitchFamily="34" charset="-120"/>
              </a:rPr>
              <a:t>GENESIS BIBLE STUDY · LESSON 4b · PART B</a:t>
            </a:r>
            <a:endParaRPr lang="en-US" sz="1300" dirty="0"/>
          </a:p>
        </p:txBody>
      </p:sp>
      <p:sp>
        <p:nvSpPr>
          <p:cNvPr id="5" name="Text 3"/>
          <p:cNvSpPr/>
          <p:nvPr/>
        </p:nvSpPr>
        <p:spPr>
          <a:xfrm>
            <a:off x="457200" y="777240"/>
            <a:ext cx="8229600" cy="1097280"/>
          </a:xfrm>
          <a:prstGeom prst="rect">
            <a:avLst/>
          </a:prstGeom>
          <a:noFill/>
          <a:ln/>
        </p:spPr>
        <p:txBody>
          <a:bodyPr wrap="square" rtlCol="0" anchor="ctr"/>
          <a:lstStyle/>
          <a:p>
            <a:pPr indent="0" marL="0">
              <a:buNone/>
            </a:pPr>
            <a:r>
              <a:rPr lang="en-US" sz="4800" b="1" dirty="0">
                <a:solidFill>
                  <a:srgbClr val="F0E6CC"/>
                </a:solidFill>
                <a:latin typeface="Georgia" pitchFamily="34" charset="0"/>
                <a:ea typeface="Georgia" pitchFamily="34" charset="-122"/>
                <a:cs typeface="Georgia" pitchFamily="34" charset="-120"/>
              </a:rPr>
              <a:t>Isaac &amp; Jacob</a:t>
            </a:r>
            <a:endParaRPr lang="en-US" sz="4800" dirty="0"/>
          </a:p>
        </p:txBody>
      </p:sp>
      <p:sp>
        <p:nvSpPr>
          <p:cNvPr id="6" name="Text 4"/>
          <p:cNvSpPr/>
          <p:nvPr/>
        </p:nvSpPr>
        <p:spPr>
          <a:xfrm>
            <a:off x="457200" y="1874520"/>
            <a:ext cx="8229600" cy="365760"/>
          </a:xfrm>
          <a:prstGeom prst="rect">
            <a:avLst/>
          </a:prstGeom>
          <a:noFill/>
          <a:ln/>
        </p:spPr>
        <p:txBody>
          <a:bodyPr wrap="square" rtlCol="0" anchor="ctr"/>
          <a:lstStyle/>
          <a:p>
            <a:pPr indent="0" marL="0">
              <a:buNone/>
            </a:pPr>
            <a:r>
              <a:rPr lang="en-US" sz="1800" i="1" dirty="0">
                <a:solidFill>
                  <a:srgbClr val="B89442"/>
                </a:solidFill>
                <a:latin typeface="Georgia" pitchFamily="34" charset="0"/>
                <a:ea typeface="Georgia" pitchFamily="34" charset="-122"/>
                <a:cs typeface="Georgia" pitchFamily="34" charset="-120"/>
              </a:rPr>
              <a:t>Genesis 31:1-36:43</a:t>
            </a:r>
            <a:endParaRPr lang="en-US" sz="1800" dirty="0"/>
          </a:p>
        </p:txBody>
      </p:sp>
      <p:sp>
        <p:nvSpPr>
          <p:cNvPr id="7" name="Shape 5"/>
          <p:cNvSpPr/>
          <p:nvPr/>
        </p:nvSpPr>
        <p:spPr>
          <a:xfrm>
            <a:off x="457200" y="2423160"/>
            <a:ext cx="8229600" cy="1371600"/>
          </a:xfrm>
          <a:prstGeom prst="roundRect">
            <a:avLst>
              <a:gd name="adj" fmla="val 4000"/>
            </a:avLst>
          </a:prstGeom>
          <a:solidFill>
            <a:srgbClr val="1D2B1F"/>
          </a:solidFill>
          <a:ln w="12700">
            <a:solidFill>
              <a:srgbClr val="B89442"/>
            </a:solidFill>
            <a:prstDash val="solid"/>
          </a:ln>
        </p:spPr>
      </p:sp>
      <p:sp>
        <p:nvSpPr>
          <p:cNvPr id="8" name="Text 6"/>
          <p:cNvSpPr/>
          <p:nvPr/>
        </p:nvSpPr>
        <p:spPr>
          <a:xfrm>
            <a:off x="685800" y="2514600"/>
            <a:ext cx="7772400" cy="1188720"/>
          </a:xfrm>
          <a:prstGeom prst="rect">
            <a:avLst/>
          </a:prstGeom>
          <a:noFill/>
          <a:ln/>
        </p:spPr>
        <p:txBody>
          <a:bodyPr wrap="square" rtlCol="0" anchor="ctr"/>
          <a:lstStyle/>
          <a:p>
            <a:pPr algn="ctr" indent="0" marL="0">
              <a:buNone/>
            </a:pPr>
            <a:r>
              <a:rPr lang="en-US" sz="1800" dirty="0">
                <a:solidFill>
                  <a:srgbClr val="F0E6CC"/>
                </a:solidFill>
                <a:latin typeface="Calibri" pitchFamily="34" charset="0"/>
                <a:ea typeface="Calibri" pitchFamily="34" charset="-122"/>
                <a:cs typeface="Calibri" pitchFamily="34" charset="-120"/>
              </a:rPr>
              <a:t>Beginnings — God creates, mankind falls, and grace begins its long march toward a Redeemer — and Isaac &amp; Jacob is the place God makes it unmistakable.</a:t>
            </a:r>
            <a:endParaRPr lang="en-US" sz="1800" dirty="0"/>
          </a:p>
        </p:txBody>
      </p:sp>
      <p:sp>
        <p:nvSpPr>
          <p:cNvPr id="9" name="Text 7"/>
          <p:cNvSpPr/>
          <p:nvPr/>
        </p:nvSpPr>
        <p:spPr>
          <a:xfrm>
            <a:off x="457200" y="3977640"/>
            <a:ext cx="8229600" cy="365760"/>
          </a:xfrm>
          <a:prstGeom prst="rect">
            <a:avLst/>
          </a:prstGeom>
          <a:noFill/>
          <a:ln/>
        </p:spPr>
        <p:txBody>
          <a:bodyPr wrap="square" rtlCol="0" anchor="ctr"/>
          <a:lstStyle/>
          <a:p>
            <a:pPr indent="0" marL="0">
              <a:buNone/>
            </a:pPr>
            <a:r>
              <a:rPr lang="en-US" sz="1100" i="1" dirty="0">
                <a:solidFill>
                  <a:srgbClr val="F0E6CC"/>
                </a:solidFill>
                <a:latin typeface="Calibri" pitchFamily="34" charset="0"/>
                <a:ea typeface="Calibri" pitchFamily="34" charset="-122"/>
                <a:cs typeface="Calibri" pitchFamily="34" charset="-120"/>
              </a:rPr>
              <a:t>Memory Verse: Genesis 32:5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548640"/>
          </a:xfrm>
          <a:prstGeom prst="rect">
            <a:avLst/>
          </a:prstGeom>
          <a:noFill/>
          <a:ln/>
        </p:spPr>
        <p:txBody>
          <a:bodyPr wrap="square" rtlCol="0" anchor="ctr"/>
          <a:lstStyle/>
          <a:p>
            <a:pPr indent="0" marL="0">
              <a:buNone/>
            </a:pPr>
            <a:r>
              <a:rPr lang="en-US" sz="2600" b="1" dirty="0">
                <a:solidFill>
                  <a:srgbClr val="F0E6CC"/>
                </a:solidFill>
                <a:latin typeface="Georgia" pitchFamily="34" charset="0"/>
                <a:ea typeface="Georgia" pitchFamily="34" charset="-122"/>
                <a:cs typeface="Georgia" pitchFamily="34" charset="-120"/>
              </a:rPr>
              <a:t>God's Story — The Timeline</a:t>
            </a:r>
            <a:endParaRPr lang="en-US" sz="2600" dirty="0"/>
          </a:p>
        </p:txBody>
      </p:sp>
      <p:sp>
        <p:nvSpPr>
          <p:cNvPr id="5" name="Shape 3"/>
          <p:cNvSpPr/>
          <p:nvPr/>
        </p:nvSpPr>
        <p:spPr>
          <a:xfrm>
            <a:off x="493776" y="1051560"/>
            <a:ext cx="955548" cy="777240"/>
          </a:xfrm>
          <a:prstGeom prst="roundRect">
            <a:avLst>
              <a:gd name="adj" fmla="val 7059"/>
            </a:avLst>
          </a:prstGeom>
          <a:solidFill>
            <a:srgbClr val="1D2B1F"/>
          </a:solidFill>
          <a:ln w="12700">
            <a:solidFill>
              <a:srgbClr val="B89442"/>
            </a:solidFill>
            <a:prstDash val="solid"/>
          </a:ln>
        </p:spPr>
      </p:sp>
      <p:sp>
        <p:nvSpPr>
          <p:cNvPr id="6" name="Text 4"/>
          <p:cNvSpPr/>
          <p:nvPr/>
        </p:nvSpPr>
        <p:spPr>
          <a:xfrm>
            <a:off x="4937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Creation / Fall</a:t>
            </a:r>
            <a:endParaRPr lang="en-US" sz="850" dirty="0"/>
          </a:p>
        </p:txBody>
      </p:sp>
      <p:sp>
        <p:nvSpPr>
          <p:cNvPr id="7" name="Shape 5"/>
          <p:cNvSpPr/>
          <p:nvPr/>
        </p:nvSpPr>
        <p:spPr>
          <a:xfrm>
            <a:off x="1522476" y="1051560"/>
            <a:ext cx="955548" cy="777240"/>
          </a:xfrm>
          <a:prstGeom prst="roundRect">
            <a:avLst>
              <a:gd name="adj" fmla="val 7059"/>
            </a:avLst>
          </a:prstGeom>
          <a:solidFill>
            <a:srgbClr val="B89442"/>
          </a:solidFill>
          <a:ln w="12700">
            <a:solidFill>
              <a:srgbClr val="B89442"/>
            </a:solidFill>
            <a:prstDash val="solid"/>
          </a:ln>
        </p:spPr>
      </p:sp>
      <p:sp>
        <p:nvSpPr>
          <p:cNvPr id="8" name="Text 6"/>
          <p:cNvSpPr/>
          <p:nvPr/>
        </p:nvSpPr>
        <p:spPr>
          <a:xfrm>
            <a:off x="1522476" y="1051560"/>
            <a:ext cx="955548" cy="777240"/>
          </a:xfrm>
          <a:prstGeom prst="rect">
            <a:avLst/>
          </a:prstGeom>
          <a:noFill/>
          <a:ln/>
        </p:spPr>
        <p:txBody>
          <a:bodyPr wrap="square" rtlCol="0" anchor="ctr"/>
          <a:lstStyle/>
          <a:p>
            <a:pPr algn="ctr" indent="0" marL="0">
              <a:buNone/>
            </a:pPr>
            <a:r>
              <a:rPr lang="en-US" sz="850" b="1" dirty="0">
                <a:solidFill>
                  <a:srgbClr val="F0E6CC"/>
                </a:solidFill>
                <a:latin typeface="Calibri" pitchFamily="34" charset="0"/>
                <a:ea typeface="Calibri" pitchFamily="34" charset="-122"/>
                <a:cs typeface="Calibri" pitchFamily="34" charset="-120"/>
              </a:rPr>
              <a:t>Abraham / Promise</a:t>
            </a:r>
            <a:endParaRPr lang="en-US" sz="850" dirty="0"/>
          </a:p>
        </p:txBody>
      </p:sp>
      <p:sp>
        <p:nvSpPr>
          <p:cNvPr id="9" name="Text 7"/>
          <p:cNvSpPr/>
          <p:nvPr/>
        </p:nvSpPr>
        <p:spPr>
          <a:xfrm>
            <a:off x="1303020" y="1847088"/>
            <a:ext cx="1394460" cy="274320"/>
          </a:xfrm>
          <a:prstGeom prst="rect">
            <a:avLst/>
          </a:prstGeom>
          <a:noFill/>
          <a:ln/>
        </p:spPr>
        <p:txBody>
          <a:bodyPr wrap="square" rtlCol="0" anchor="ctr"/>
          <a:lstStyle/>
          <a:p>
            <a:pPr algn="ctr" indent="0" marL="0">
              <a:buNone/>
            </a:pPr>
            <a:r>
              <a:rPr lang="en-US" sz="900" b="1" dirty="0">
                <a:solidFill>
                  <a:srgbClr val="B89442"/>
                </a:solidFill>
                <a:latin typeface="Calibri" pitchFamily="34" charset="0"/>
                <a:ea typeface="Calibri" pitchFamily="34" charset="-122"/>
                <a:cs typeface="Calibri" pitchFamily="34" charset="-120"/>
              </a:rPr>
              <a:t>▲ WE ARE HERE</a:t>
            </a:r>
            <a:endParaRPr lang="en-US" sz="900" dirty="0"/>
          </a:p>
        </p:txBody>
      </p:sp>
      <p:sp>
        <p:nvSpPr>
          <p:cNvPr id="10" name="Shape 8"/>
          <p:cNvSpPr/>
          <p:nvPr/>
        </p:nvSpPr>
        <p:spPr>
          <a:xfrm>
            <a:off x="2551176" y="1051560"/>
            <a:ext cx="955548" cy="777240"/>
          </a:xfrm>
          <a:prstGeom prst="roundRect">
            <a:avLst>
              <a:gd name="adj" fmla="val 7059"/>
            </a:avLst>
          </a:prstGeom>
          <a:solidFill>
            <a:srgbClr val="1D2B1F"/>
          </a:solidFill>
          <a:ln w="12700">
            <a:solidFill>
              <a:srgbClr val="B89442"/>
            </a:solidFill>
            <a:prstDash val="solid"/>
          </a:ln>
        </p:spPr>
      </p:sp>
      <p:sp>
        <p:nvSpPr>
          <p:cNvPr id="11" name="Text 9"/>
          <p:cNvSpPr/>
          <p:nvPr/>
        </p:nvSpPr>
        <p:spPr>
          <a:xfrm>
            <a:off x="25511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Exodus / Law</a:t>
            </a:r>
            <a:endParaRPr lang="en-US" sz="850" dirty="0"/>
          </a:p>
        </p:txBody>
      </p:sp>
      <p:sp>
        <p:nvSpPr>
          <p:cNvPr id="12" name="Shape 10"/>
          <p:cNvSpPr/>
          <p:nvPr/>
        </p:nvSpPr>
        <p:spPr>
          <a:xfrm>
            <a:off x="3579876" y="1051560"/>
            <a:ext cx="955548" cy="777240"/>
          </a:xfrm>
          <a:prstGeom prst="roundRect">
            <a:avLst>
              <a:gd name="adj" fmla="val 7059"/>
            </a:avLst>
          </a:prstGeom>
          <a:solidFill>
            <a:srgbClr val="1D2B1F"/>
          </a:solidFill>
          <a:ln w="12700">
            <a:solidFill>
              <a:srgbClr val="B89442"/>
            </a:solidFill>
            <a:prstDash val="solid"/>
          </a:ln>
        </p:spPr>
      </p:sp>
      <p:sp>
        <p:nvSpPr>
          <p:cNvPr id="13" name="Text 11"/>
          <p:cNvSpPr/>
          <p:nvPr/>
        </p:nvSpPr>
        <p:spPr>
          <a:xfrm>
            <a:off x="35798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Kings / Temple</a:t>
            </a:r>
            <a:endParaRPr lang="en-US" sz="850" dirty="0"/>
          </a:p>
        </p:txBody>
      </p:sp>
      <p:sp>
        <p:nvSpPr>
          <p:cNvPr id="14" name="Shape 12"/>
          <p:cNvSpPr/>
          <p:nvPr/>
        </p:nvSpPr>
        <p:spPr>
          <a:xfrm>
            <a:off x="4608576" y="1051560"/>
            <a:ext cx="955548" cy="777240"/>
          </a:xfrm>
          <a:prstGeom prst="roundRect">
            <a:avLst>
              <a:gd name="adj" fmla="val 7059"/>
            </a:avLst>
          </a:prstGeom>
          <a:solidFill>
            <a:srgbClr val="1D2B1F"/>
          </a:solidFill>
          <a:ln w="12700">
            <a:solidFill>
              <a:srgbClr val="B89442"/>
            </a:solidFill>
            <a:prstDash val="solid"/>
          </a:ln>
        </p:spPr>
      </p:sp>
      <p:sp>
        <p:nvSpPr>
          <p:cNvPr id="15" name="Text 13"/>
          <p:cNvSpPr/>
          <p:nvPr/>
        </p:nvSpPr>
        <p:spPr>
          <a:xfrm>
            <a:off x="46085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Exile / Return</a:t>
            </a:r>
            <a:endParaRPr lang="en-US" sz="850" dirty="0"/>
          </a:p>
        </p:txBody>
      </p:sp>
      <p:sp>
        <p:nvSpPr>
          <p:cNvPr id="16" name="Shape 14"/>
          <p:cNvSpPr/>
          <p:nvPr/>
        </p:nvSpPr>
        <p:spPr>
          <a:xfrm>
            <a:off x="5637276" y="1051560"/>
            <a:ext cx="955548" cy="777240"/>
          </a:xfrm>
          <a:prstGeom prst="roundRect">
            <a:avLst>
              <a:gd name="adj" fmla="val 7059"/>
            </a:avLst>
          </a:prstGeom>
          <a:solidFill>
            <a:srgbClr val="1D2B1F"/>
          </a:solidFill>
          <a:ln w="12700">
            <a:solidFill>
              <a:srgbClr val="B89442"/>
            </a:solidFill>
            <a:prstDash val="solid"/>
          </a:ln>
        </p:spPr>
      </p:sp>
      <p:sp>
        <p:nvSpPr>
          <p:cNvPr id="17" name="Text 15"/>
          <p:cNvSpPr/>
          <p:nvPr/>
        </p:nvSpPr>
        <p:spPr>
          <a:xfrm>
            <a:off x="56372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Jesus Fulfills</a:t>
            </a:r>
            <a:endParaRPr lang="en-US" sz="850" dirty="0"/>
          </a:p>
        </p:txBody>
      </p:sp>
      <p:sp>
        <p:nvSpPr>
          <p:cNvPr id="18" name="Shape 16"/>
          <p:cNvSpPr/>
          <p:nvPr/>
        </p:nvSpPr>
        <p:spPr>
          <a:xfrm>
            <a:off x="6665976" y="1051560"/>
            <a:ext cx="955548" cy="777240"/>
          </a:xfrm>
          <a:prstGeom prst="roundRect">
            <a:avLst>
              <a:gd name="adj" fmla="val 7059"/>
            </a:avLst>
          </a:prstGeom>
          <a:solidFill>
            <a:srgbClr val="1D2B1F"/>
          </a:solidFill>
          <a:ln w="12700">
            <a:solidFill>
              <a:srgbClr val="B89442"/>
            </a:solidFill>
            <a:prstDash val="solid"/>
          </a:ln>
        </p:spPr>
      </p:sp>
      <p:sp>
        <p:nvSpPr>
          <p:cNvPr id="19" name="Text 17"/>
          <p:cNvSpPr/>
          <p:nvPr/>
        </p:nvSpPr>
        <p:spPr>
          <a:xfrm>
            <a:off x="66659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Church / Spirit</a:t>
            </a:r>
            <a:endParaRPr lang="en-US" sz="850" dirty="0"/>
          </a:p>
        </p:txBody>
      </p:sp>
      <p:sp>
        <p:nvSpPr>
          <p:cNvPr id="20" name="Shape 18"/>
          <p:cNvSpPr/>
          <p:nvPr/>
        </p:nvSpPr>
        <p:spPr>
          <a:xfrm>
            <a:off x="7694676" y="1051560"/>
            <a:ext cx="955548" cy="777240"/>
          </a:xfrm>
          <a:prstGeom prst="roundRect">
            <a:avLst>
              <a:gd name="adj" fmla="val 7059"/>
            </a:avLst>
          </a:prstGeom>
          <a:solidFill>
            <a:srgbClr val="1D2B1F"/>
          </a:solidFill>
          <a:ln w="12700">
            <a:solidFill>
              <a:srgbClr val="B89442"/>
            </a:solidFill>
            <a:prstDash val="solid"/>
          </a:ln>
        </p:spPr>
      </p:sp>
      <p:sp>
        <p:nvSpPr>
          <p:cNvPr id="21" name="Text 19"/>
          <p:cNvSpPr/>
          <p:nvPr/>
        </p:nvSpPr>
        <p:spPr>
          <a:xfrm>
            <a:off x="76946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New Creation</a:t>
            </a:r>
            <a:endParaRPr lang="en-US" sz="850" dirty="0"/>
          </a:p>
        </p:txBody>
      </p:sp>
      <p:sp>
        <p:nvSpPr>
          <p:cNvPr id="22" name="Shape 20"/>
          <p:cNvSpPr/>
          <p:nvPr/>
        </p:nvSpPr>
        <p:spPr>
          <a:xfrm>
            <a:off x="457200" y="2377440"/>
            <a:ext cx="8229600" cy="2194560"/>
          </a:xfrm>
          <a:prstGeom prst="roundRect">
            <a:avLst>
              <a:gd name="adj" fmla="val 2500"/>
            </a:avLst>
          </a:prstGeom>
          <a:solidFill>
            <a:srgbClr val="1D2B1F"/>
          </a:solidFill>
          <a:ln w="12700">
            <a:solidFill>
              <a:srgbClr val="1D2B1F"/>
            </a:solidFill>
            <a:prstDash val="solid"/>
          </a:ln>
        </p:spPr>
      </p:sp>
      <p:sp>
        <p:nvSpPr>
          <p:cNvPr id="23" name="Text 21"/>
          <p:cNvSpPr/>
          <p:nvPr/>
        </p:nvSpPr>
        <p:spPr>
          <a:xfrm>
            <a:off x="685800" y="2514600"/>
            <a:ext cx="7772400" cy="1920240"/>
          </a:xfrm>
          <a:prstGeom prst="rect">
            <a:avLst/>
          </a:prstGeom>
          <a:noFill/>
          <a:ln/>
        </p:spPr>
        <p:txBody>
          <a:bodyPr wrap="square" rtlCol="0" anchor="t"/>
          <a:lstStyle/>
          <a:p>
            <a:pPr indent="0" marL="0">
              <a:buNone/>
            </a:pPr>
            <a:r>
              <a:rPr lang="en-US" sz="1400" dirty="0">
                <a:solidFill>
                  <a:srgbClr val="F0E6CC"/>
                </a:solidFill>
                <a:latin typeface="Calibri" pitchFamily="34" charset="0"/>
                <a:ea typeface="Calibri" pitchFamily="34" charset="-122"/>
                <a:cs typeface="Calibri" pitchFamily="34" charset="-120"/>
              </a:rPr>
              <a:t>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31:1-7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heard the words of Laban’s sons, saying, Jacob hath taken away all that was our father’s; and of that which was our father’s hath he gotten all this glory.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Jacob sent and called Rachel and Leah to the field unto his flock,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your father hath deceived me, and changed my wages ten times; but God suffered him not to hurt me.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31:10-13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at the time that the cattle conceived, that I lifted up mine eyes, and saw in a dream, and, behold, the rams which leaped upon the cattle were ringstraked, speckled, and grisled.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I am the God of Bethel, where thou anointedst the pillar, and where thou vowedst a vow unto me: now arise, get thee out from this land, and return unto the land of thy kindred.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31:16-23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For all the riches which God hath taken from our father, that is ours, and our children’s: now then, whatsoever God hath said unto thee, do.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Jacob stole away unawares to Laban the Syrian, in that he told him not that he fled.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took his brethren with him, and pursued after him seven days’ journey; and they overtook him in the mount Gilead.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31:26-29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Laban said to Jacob, What hast thou done, that thou hast stolen away unawares to me, and carried away my daughters, as captives taken with the sword?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It is in the power of my hand to do you hurt: but the God of your father spake unto me yesternight, saying, Take thou heed that thou speak not to Jacob either good or bad.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31:32-39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With whomsoever thou findest thy gods, let him not live: before our brethren discern thou what is thine with me, and take it to thee. For Jacob knew not that Rachel had stolen them.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Jacob was wroth, and chode with Laban: and Jacob answered and said to Laban, What is my trespass? what is my sin, that thou hast so hotly pursued after me?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That which was torn of beasts I brought not unto thee; I bare the loss of it; of my hand didst thou require it, whether stolen by day, or stolen by night.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Sin is never small. It always costs more than we planned to pay.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31:42-45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Except the God of my father, the God of Abraham, and the fear of Isaac, had been with me, surely thou hadst sent me away now empty. God hath seen mine affliction and the labour of my hands, and rebuked thee yesternight.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Jacob took a stone, and set it up for a pillar.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31:48-55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Laban said, This heap is a witness between me and thee this day. Therefore was the name of it called Galeed;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Laban said to Jacob, Behold this heap, and behold this pillar, which I have cast betwixt me and thee: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early in the morning Laban rose up, and kissed his sons and his daughters, and blessed them: and Laban departed, and returned unto his place.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32:3-6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Jacob sent messengers before him to Esau his brother unto the land of Seir, the country of Edom.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messengers returned to Jacob, saying, We came to thy brother Esau, and also he cometh to meet thee, and four hundred men with him.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32:9-16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Jacob said, O God of my father Abraham, and God of my father Isaac, the LORD which saidst unto me, Return unto thy country, and to thy kindred, and I will deal well with thee: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thou saidst, I will surely do thee good, and make thy seed as the sand of the sea, which cannot be numbered for multitude.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delivered them into the hand of his servants, every drove by themselves; and said unto his servants, Pass over before me, and put a space betwixt drove and drove.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32:19-22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so commanded he the second, and the third, and all that followed the droves, saying, On this manner shall ye speak unto Esau, when ye find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rose up that night, and took his two wives, and his two womenservants, and his eleven sons, and passed over the ford Jabbok.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32:25-31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when he saw that he prevailed not against him, he touched the hollow of his thigh; and the hollow of Jacob’s thigh was out of joint, as he wrestled with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said, Thy name shall be called no more Jacob, but Israel: for as a prince hast thou power with God and with men, and hast prevailed.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as he passed over Penuel the sun rose upon him, and he halted upon his thigh.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33:3-6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passed over before them, and bowed himself to the ground seven times, until he came near to his brother.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Then the handmaidens came near, they and their children, and they bowed themselves.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33:9-15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Esau said, I have enough, my brother; keep that thou hast unto thyself.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said, Let us take our journey, and let us go, and I will go before thee.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Esau said, Let me now leave with thee some of the folk that are with me. And he said, What needeth it? let me find grace in the sight of my lord.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33:19-34:2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bought a parcel of a field, where he had spread his tent, at the hand of the children of Hamor, Shechem’s father, for an hundred pieces of money.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when Shechem the son of Hamor the Hivite, prince of the country, saw her, he took her, and lay with her, and defiled her.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34:5-11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Jacob heard that he had defiled Dinah his daughter: now his sons were with his cattle in the field: and Jacob held his peace until they were come.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Hamor communed with them, saying, The soul of my son Shechem longeth for your daughter: I pray you give her him to wife.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Shechem said unto her father and unto her brethren, Let me find grace in your eyes, and what ye shall say unto me I will give.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34:14-18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they said unto them, We cannot do this thing, to give our sister to one that is uncircumcised; for that were a reproach unto us: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their words pleased Hamor, and Shechem Hamor’s son.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34:21-27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These men are peaceable with us; therefore let them dwell in the land, and trade therein; for the land, behold, it is large enough for them; let us take their daughters to us for wives, and let us give them our daughters.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unto Hamor and unto Shechem his son hearkened all that went out of the gate of his city; and every male was circumcised, all that went out of the gate of his city.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 sons of Jacob came upon the slain, and spoiled the city, because they had defiled their sister.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34:30-35:3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Jacob said to Simeon and Levi, Ye have troubled me to make me to stink among the inhabitants of the land, among the Canaanites and the Perizzites: and I being few in number, they shall gather themselves together against me, and slay me; and I shall be destroyed, I and my house.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let us arise, and go up to Bethel; and I will make there an altar unto God, who answered me in the day of my distress, and was with me in the way which I went.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35:6-12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So Jacob came to Luz, which is in the land of Canaan, that is, Bethel, he and all the people that were with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appeared unto Jacob again, when he came out of Padanaram, and blessed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land which I gave Abraham and Isaac, to thee I will give it, and to thy seed after thee will I give the land.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35:15-18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Jacob called the name of the place where God spake with him, Bethel.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as her soul was in departing, (for she died) that she called his name Benoni: but his father called him Benjamin.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35:22-28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when Israel dwelt in that land, that Reuben went and lay with Bilhah his father’s concubine: and Israel heard it. Now the sons of Jacob were twelve: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sons of Bilhah, Rachel’s handmaid; Dan, and Naphtali: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days of Isaac were an hundred and fourscore years.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36:2-5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Esau took his wives of the daughters of Canaan; Adah the daughter of Elon the Hittite, and Aholibamah the daughter of Anah the daughter of Zibeon the Hivite;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Aholibamah bare Jeush, and Jaalam, and Korah: these are the sons of Esau, which were born unto him in the land of Canaan.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36:9-15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these are the generations of Esau the father of the Edomites in mount Seir: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Timna was concubine to Eliphaz Esau’s son; and she bare to Eliphaz Amalek: these were the sons of Adah Esau’s wife.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These were dukes of the sons of Esau: the sons of Eliphaz the firstborn son of Esau; duke Teman, duke Omar, duke Zepho, duke Kenaz,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36:18-21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these are the sons of Aholibamah Esau’s wife; duke Jeush, duke Jaalam, duke Korah: these were the dukes that came of Aholibamah the daughter of Anah, Esau’s wife.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Dishon, and Ezer, and Dishan: these are the dukes of the Horites, the children of Seir in the land of Edom.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36:24-31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these are the children of Zibeon; both Ajah, and Anah: this was that Anah that found the mules in the wilderness, as he fed the asses of Zibeon his father.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 children of Dishan are these; Uz, and Aran.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these are the kings that reigned in the land of Edom, before there reigned any king over the children of Israel.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There is a throne behind the thrones, and the One who sits on it never abdicates.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36:34-37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Jobab died, and Husham of the land of Temani reigned in his stead.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Samlah died, and Saul of Rehoboth by the river reigned in his stead.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There is a throne behind the thrones, and the One who sits on it never abdicates.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36:40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these are the names of the dukes that came of Esau, according to their families, after their places, by their names; duke Timnah, duke Alvah, duke Jetheth,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WHO / WHAT / WHEN</a:t>
            </a:r>
            <a:endParaRPr lang="en-US" sz="2200" dirty="0"/>
          </a:p>
        </p:txBody>
      </p:sp>
      <p:sp>
        <p:nvSpPr>
          <p:cNvPr id="5" name="Shape 3"/>
          <p:cNvSpPr/>
          <p:nvPr/>
        </p:nvSpPr>
        <p:spPr>
          <a:xfrm>
            <a:off x="457200" y="914400"/>
            <a:ext cx="2679192" cy="2194560"/>
          </a:xfrm>
          <a:prstGeom prst="roundRect">
            <a:avLst>
              <a:gd name="adj" fmla="val 2500"/>
            </a:avLst>
          </a:prstGeom>
          <a:solidFill>
            <a:srgbClr val="1D2B1F"/>
          </a:solidFill>
          <a:ln w="12700">
            <a:solidFill>
              <a:srgbClr val="B89442"/>
            </a:solidFill>
            <a:prstDash val="solid"/>
          </a:ln>
        </p:spPr>
      </p:sp>
      <p:sp>
        <p:nvSpPr>
          <p:cNvPr id="6" name="Text 4"/>
          <p:cNvSpPr/>
          <p:nvPr/>
        </p:nvSpPr>
        <p:spPr>
          <a:xfrm>
            <a:off x="457200"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WHO</a:t>
            </a:r>
            <a:endParaRPr lang="en-US" sz="1500" dirty="0"/>
          </a:p>
        </p:txBody>
      </p:sp>
      <p:sp>
        <p:nvSpPr>
          <p:cNvPr id="7" name="Text 5"/>
          <p:cNvSpPr/>
          <p:nvPr/>
        </p:nvSpPr>
        <p:spPr>
          <a:xfrm>
            <a:off x="594360"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Author: Moses</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Audience: the redeemed nation of Israel at the edge of the Promised Land</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people emerge through the narrative of Isaac &amp; Jacob.</a:t>
            </a:r>
            <a:endParaRPr lang="en-US" sz="1050" dirty="0"/>
          </a:p>
        </p:txBody>
      </p:sp>
      <p:sp>
        <p:nvSpPr>
          <p:cNvPr id="8" name="Shape 6"/>
          <p:cNvSpPr/>
          <p:nvPr/>
        </p:nvSpPr>
        <p:spPr>
          <a:xfrm>
            <a:off x="3209544" y="914400"/>
            <a:ext cx="2679192" cy="2194560"/>
          </a:xfrm>
          <a:prstGeom prst="roundRect">
            <a:avLst>
              <a:gd name="adj" fmla="val 2500"/>
            </a:avLst>
          </a:prstGeom>
          <a:solidFill>
            <a:srgbClr val="1D2B1F"/>
          </a:solidFill>
          <a:ln w="12700">
            <a:solidFill>
              <a:srgbClr val="B89442"/>
            </a:solidFill>
            <a:prstDash val="solid"/>
          </a:ln>
        </p:spPr>
      </p:sp>
      <p:sp>
        <p:nvSpPr>
          <p:cNvPr id="9" name="Text 7"/>
          <p:cNvSpPr/>
          <p:nvPr/>
        </p:nvSpPr>
        <p:spPr>
          <a:xfrm>
            <a:off x="3209544"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WHAT</a:t>
            </a:r>
            <a:endParaRPr lang="en-US" sz="1500" dirty="0"/>
          </a:p>
        </p:txBody>
      </p:sp>
      <p:sp>
        <p:nvSpPr>
          <p:cNvPr id="10" name="Text 8"/>
          <p:cNvSpPr/>
          <p:nvPr/>
        </p:nvSpPr>
        <p:spPr>
          <a:xfrm>
            <a:off x="3346704"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Key theme: Beginnings — God creates, mankind falls, and grace begins its long march toward a Redeemer.</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structure: Genesis 31:1-36:43.</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doctrine: the character and saving purpose of God.</a:t>
            </a:r>
            <a:endParaRPr lang="en-US" sz="1050" dirty="0"/>
          </a:p>
        </p:txBody>
      </p:sp>
      <p:sp>
        <p:nvSpPr>
          <p:cNvPr id="11" name="Shape 9"/>
          <p:cNvSpPr/>
          <p:nvPr/>
        </p:nvSpPr>
        <p:spPr>
          <a:xfrm>
            <a:off x="5961888" y="914400"/>
            <a:ext cx="2679192" cy="2194560"/>
          </a:xfrm>
          <a:prstGeom prst="roundRect">
            <a:avLst>
              <a:gd name="adj" fmla="val 2500"/>
            </a:avLst>
          </a:prstGeom>
          <a:solidFill>
            <a:srgbClr val="1D2B1F"/>
          </a:solidFill>
          <a:ln w="12700">
            <a:solidFill>
              <a:srgbClr val="B89442"/>
            </a:solidFill>
            <a:prstDash val="solid"/>
          </a:ln>
        </p:spPr>
      </p:sp>
      <p:sp>
        <p:nvSpPr>
          <p:cNvPr id="12" name="Text 10"/>
          <p:cNvSpPr/>
          <p:nvPr/>
        </p:nvSpPr>
        <p:spPr>
          <a:xfrm>
            <a:off x="5961888"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WHEN</a:t>
            </a:r>
            <a:endParaRPr lang="en-US" sz="1500" dirty="0"/>
          </a:p>
        </p:txBody>
      </p:sp>
      <p:sp>
        <p:nvSpPr>
          <p:cNvPr id="13" name="Text 11"/>
          <p:cNvSpPr/>
          <p:nvPr/>
        </p:nvSpPr>
        <p:spPr>
          <a:xfrm>
            <a:off x="6099048"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Date: c. 1446-1406 BC.</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Stage: Abraham / Promise.</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Context: the redeemed nation of Israel at the edge of the Promised Land.</a:t>
            </a:r>
            <a:endParaRPr lang="en-US" sz="1050" dirty="0"/>
          </a:p>
        </p:txBody>
      </p:sp>
      <p:sp>
        <p:nvSpPr>
          <p:cNvPr id="14" name="Shape 12"/>
          <p:cNvSpPr/>
          <p:nvPr/>
        </p:nvSpPr>
        <p:spPr>
          <a:xfrm>
            <a:off x="457200" y="3246120"/>
            <a:ext cx="8229600" cy="1417320"/>
          </a:xfrm>
          <a:prstGeom prst="roundRect">
            <a:avLst>
              <a:gd name="adj" fmla="val 3871"/>
            </a:avLst>
          </a:prstGeom>
          <a:solidFill>
            <a:srgbClr val="29372B"/>
          </a:solidFill>
          <a:ln w="12700">
            <a:solidFill>
              <a:srgbClr val="29372B"/>
            </a:solidFill>
            <a:prstDash val="solid"/>
          </a:ln>
        </p:spPr>
      </p:sp>
      <p:sp>
        <p:nvSpPr>
          <p:cNvPr id="15" name="Text 13"/>
          <p:cNvSpPr/>
          <p:nvPr/>
        </p:nvSpPr>
        <p:spPr>
          <a:xfrm>
            <a:off x="640080" y="3310128"/>
            <a:ext cx="7863840" cy="1298448"/>
          </a:xfrm>
          <a:prstGeom prst="rect">
            <a:avLst/>
          </a:prstGeom>
          <a:noFill/>
          <a:ln/>
        </p:spPr>
        <p:txBody>
          <a:bodyPr wrap="square" rtlCol="0" anchor="t"/>
          <a:lstStyle/>
          <a:p>
            <a:pPr indent="0" marL="0">
              <a:lnSpc>
                <a:spcPct val="100000"/>
              </a:lnSpc>
              <a:buNone/>
            </a:pPr>
            <a:r>
              <a:rPr lang="en-US" sz="850" b="1" dirty="0">
                <a:solidFill>
                  <a:srgbClr val="B89442"/>
                </a:solidFill>
                <a:latin typeface="Calibri" pitchFamily="34" charset="0"/>
                <a:ea typeface="Calibri" pitchFamily="34" charset="-122"/>
                <a:cs typeface="Calibri" pitchFamily="34" charset="-120"/>
              </a:rPr>
              <a:t>BIBLE TRIAGE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BLACK TAG — Primary: The character and authority of God revealed here is non-negotiable. Beginnings — God creates, mankind falls, and grace begins its long march toward a Redeemer stands on who God is. Die on this hill.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RED TAG — Secondary: How a local church orders its life around this truth (worship, leadership, practice) is worth careful conviction, but it shapes church family rather than salvation.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YELLOW/GREEN TAG — Tertiary: Timing details, cultural specifics, and disputed minor points here are worth exploring with an open hand. Study them; don't divide over them.</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OBSERVE</a:t>
            </a:r>
            <a:endParaRPr lang="en-US" sz="2200" dirty="0"/>
          </a:p>
        </p:txBody>
      </p:sp>
      <p:sp>
        <p:nvSpPr>
          <p:cNvPr id="5" name="Shape 3"/>
          <p:cNvSpPr/>
          <p:nvPr/>
        </p:nvSpPr>
        <p:spPr>
          <a:xfrm>
            <a:off x="457200" y="868680"/>
            <a:ext cx="8229600" cy="3749040"/>
          </a:xfrm>
          <a:prstGeom prst="roundRect">
            <a:avLst>
              <a:gd name="adj" fmla="val 1463"/>
            </a:avLst>
          </a:prstGeom>
          <a:solidFill>
            <a:srgbClr val="1D2B1F"/>
          </a:solidFill>
          <a:ln w="12700">
            <a:solidFill>
              <a:srgbClr val="1D2B1F"/>
            </a:solidFill>
            <a:prstDash val="solid"/>
          </a:ln>
        </p:spPr>
      </p:sp>
      <p:sp>
        <p:nvSpPr>
          <p:cNvPr id="6" name="Text 4"/>
          <p:cNvSpPr/>
          <p:nvPr/>
        </p:nvSpPr>
        <p:spPr>
          <a:xfrm>
            <a:off x="731520" y="960120"/>
            <a:ext cx="7680960" cy="3566160"/>
          </a:xfrm>
          <a:prstGeom prst="rect">
            <a:avLst/>
          </a:prstGeom>
          <a:noFill/>
          <a:ln/>
        </p:spPr>
        <p:txBody>
          <a:bodyPr wrap="square" rtlCol="0" anchor="t"/>
          <a:lstStyle/>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THE TEXT ITSELF: Read Genesis 31:1-36:43 slowly. Notice God is the acting subject — He initiates before anyone responds. Write this down: grace always moves first.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STRUCTURE: This passage is built with intention, not accident. Mark the repeated words and the turning point — the Holy Spirit underlines what matters most.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Leaders of the conservative movement note that Genesis must be read in its covenant context, not lifted out as isolated proverbs. The whole book argues one case: beginnings — God creates, mankind falls, and grace begins its long march toward a Redeemer.</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Conservative scholars observe that the original audience — the redeemed nation of Israel at the edge of the Promised Land — heard this as a word for their crisis, not a timeless abstraction. Get the THEN right and the TODAY lands true.</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Watch the contrast between human failure and divine faithfulness. The people stumble; God does not. [LINK: John 1:1-3]</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Look at what God is doing here: He is not merely correcting behavior, He is forming a people for His own glory. [LINK: Romans 5:12-21]</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Here's the thing — this passage refuses to leave you neutral. It diagnoses the heart and then offers the only cure. [LINK: Galatians 3:16]</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Every detail is a step off the beach and into the interior. This is the map: beginnings — God creates, mankind falls, and grace begins its long march toward a Redeemer.</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DIAGNOSIS (Q1-Q4)</a:t>
            </a:r>
            <a:endParaRPr lang="en-US" sz="2200" dirty="0"/>
          </a:p>
        </p:txBody>
      </p:sp>
      <p:sp>
        <p:nvSpPr>
          <p:cNvPr id="5" name="Shape 3"/>
          <p:cNvSpPr/>
          <p:nvPr/>
        </p:nvSpPr>
        <p:spPr>
          <a:xfrm>
            <a:off x="457200" y="868680"/>
            <a:ext cx="8229600" cy="1051560"/>
          </a:xfrm>
          <a:prstGeom prst="roundRect">
            <a:avLst>
              <a:gd name="adj" fmla="val 5217"/>
            </a:avLst>
          </a:prstGeom>
          <a:solidFill>
            <a:srgbClr val="29372B"/>
          </a:solidFill>
          <a:ln w="12700">
            <a:solidFill>
              <a:srgbClr val="B89442"/>
            </a:solidFill>
            <a:prstDash val="solid"/>
          </a:ln>
        </p:spPr>
      </p:sp>
      <p:sp>
        <p:nvSpPr>
          <p:cNvPr id="6" name="Text 4"/>
          <p:cNvSpPr/>
          <p:nvPr/>
        </p:nvSpPr>
        <p:spPr>
          <a:xfrm>
            <a:off x="685800" y="932688"/>
            <a:ext cx="7772400" cy="914400"/>
          </a:xfrm>
          <a:prstGeom prst="rect">
            <a:avLst/>
          </a:prstGeom>
          <a:noFill/>
          <a:ln/>
        </p:spPr>
        <p:txBody>
          <a:bodyPr wrap="square" rtlCol="0" anchor="ctr"/>
          <a:lstStyle/>
          <a:p>
            <a:pPr indent="0" marL="0">
              <a:buNone/>
            </a:pPr>
            <a:r>
              <a:rPr lang="en-US" sz="1200" b="1" dirty="0">
                <a:solidFill>
                  <a:srgbClr val="F0E6CC"/>
                </a:solidFill>
                <a:latin typeface="Calibri" pitchFamily="34" charset="0"/>
                <a:ea typeface="Calibri" pitchFamily="34" charset="-122"/>
                <a:cs typeface="Calibri" pitchFamily="34" charset="-120"/>
              </a:rPr>
              <a:t>FALLEN CONDITION FOCUS: This passage exposes our tendency to hide our sin and manage our image rather than confess and be cleansed.</a:t>
            </a:r>
            <a:endParaRPr lang="en-US" sz="1200" dirty="0"/>
          </a:p>
        </p:txBody>
      </p:sp>
      <p:sp>
        <p:nvSpPr>
          <p:cNvPr id="7" name="Shape 5"/>
          <p:cNvSpPr/>
          <p:nvPr/>
        </p:nvSpPr>
        <p:spPr>
          <a:xfrm>
            <a:off x="457200" y="2057400"/>
            <a:ext cx="8229600" cy="2560320"/>
          </a:xfrm>
          <a:prstGeom prst="roundRect">
            <a:avLst>
              <a:gd name="adj" fmla="val 2143"/>
            </a:avLst>
          </a:prstGeom>
          <a:solidFill>
            <a:srgbClr val="1D2B1F"/>
          </a:solidFill>
          <a:ln w="12700">
            <a:solidFill>
              <a:srgbClr val="1D2B1F"/>
            </a:solidFill>
            <a:prstDash val="solid"/>
          </a:ln>
        </p:spPr>
      </p:sp>
      <p:sp>
        <p:nvSpPr>
          <p:cNvPr id="8" name="Text 6"/>
          <p:cNvSpPr/>
          <p:nvPr/>
        </p:nvSpPr>
        <p:spPr>
          <a:xfrm>
            <a:off x="731520" y="2194560"/>
            <a:ext cx="7680960" cy="2286000"/>
          </a:xfrm>
          <a:prstGeom prst="rect">
            <a:avLst/>
          </a:prstGeom>
          <a:noFill/>
          <a:ln/>
        </p:spPr>
        <p:txBody>
          <a:bodyPr wrap="square" rtlCol="0" anchor="t"/>
          <a:lstStyle/>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Q1. Where in isaac &amp; jacob do you see your own heart described — not someone else's?</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Q2. What does this passage say is true about God that, if you really believed it on Monday morning, would change how you live?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Q3. Be specific: name one place this week where you have been living as if this text were not true.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Q4. What would repentance actually look like here — not in theory, but in your calendar, your wallet, your words?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Q5 + CHALLENGE</a:t>
            </a:r>
            <a:endParaRPr lang="en-US" sz="2200" dirty="0"/>
          </a:p>
        </p:txBody>
      </p:sp>
      <p:sp>
        <p:nvSpPr>
          <p:cNvPr id="5" name="Shape 3"/>
          <p:cNvSpPr/>
          <p:nvPr/>
        </p:nvSpPr>
        <p:spPr>
          <a:xfrm>
            <a:off x="457200" y="868680"/>
            <a:ext cx="8229600" cy="914400"/>
          </a:xfrm>
          <a:prstGeom prst="roundRect">
            <a:avLst>
              <a:gd name="adj" fmla="val 6000"/>
            </a:avLst>
          </a:prstGeom>
          <a:solidFill>
            <a:srgbClr val="29372B"/>
          </a:solidFill>
          <a:ln w="12700">
            <a:solidFill>
              <a:srgbClr val="B89442"/>
            </a:solidFill>
            <a:prstDash val="solid"/>
          </a:ln>
        </p:spPr>
      </p:sp>
      <p:sp>
        <p:nvSpPr>
          <p:cNvPr id="6" name="Text 4"/>
          <p:cNvSpPr/>
          <p:nvPr/>
        </p:nvSpPr>
        <p:spPr>
          <a:xfrm>
            <a:off x="685800" y="914400"/>
            <a:ext cx="7772400" cy="822960"/>
          </a:xfrm>
          <a:prstGeom prst="rect">
            <a:avLst/>
          </a:prstGeom>
          <a:noFill/>
          <a:ln/>
        </p:spPr>
        <p:txBody>
          <a:bodyPr wrap="square" rtlCol="0" anchor="ctr"/>
          <a:lstStyle/>
          <a:p>
            <a:pPr indent="0" marL="0">
              <a:buNone/>
            </a:pPr>
            <a:r>
              <a:rPr lang="en-US" sz="1250" b="1" dirty="0">
                <a:solidFill>
                  <a:srgbClr val="F0E6CC"/>
                </a:solidFill>
                <a:latin typeface="Calibri" pitchFamily="34" charset="0"/>
                <a:ea typeface="Calibri" pitchFamily="34" charset="-122"/>
                <a:cs typeface="Calibri" pitchFamily="34" charset="-120"/>
              </a:rPr>
              <a:t>Q5 — PROCLAMATION: Who in your life needs to hear what Genesis Isaac &amp; Jacob reveals about God, and what is keeping you from telling them this week?</a:t>
            </a:r>
            <a:endParaRPr lang="en-US" sz="1250" dirty="0"/>
          </a:p>
        </p:txBody>
      </p:sp>
      <p:sp>
        <p:nvSpPr>
          <p:cNvPr id="7" name="Text 5"/>
          <p:cNvSpPr/>
          <p:nvPr/>
        </p:nvSpPr>
        <p:spPr>
          <a:xfrm>
            <a:off x="548640" y="1874520"/>
            <a:ext cx="8046720" cy="91440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a:t>
            </a:r>
            <a:endParaRPr lang="en-US" sz="1150" dirty="0"/>
          </a:p>
        </p:txBody>
      </p:sp>
      <p:sp>
        <p:nvSpPr>
          <p:cNvPr id="8" name="Shape 6"/>
          <p:cNvSpPr/>
          <p:nvPr/>
        </p:nvSpPr>
        <p:spPr>
          <a:xfrm>
            <a:off x="457200" y="2880360"/>
            <a:ext cx="8229600" cy="1737360"/>
          </a:xfrm>
          <a:prstGeom prst="roundRect">
            <a:avLst>
              <a:gd name="adj" fmla="val 3158"/>
            </a:avLst>
          </a:prstGeom>
          <a:solidFill>
            <a:srgbClr val="1D2B1F"/>
          </a:solidFill>
          <a:ln w="12700">
            <a:solidFill>
              <a:srgbClr val="B89442"/>
            </a:solidFill>
            <a:prstDash val="solid"/>
          </a:ln>
        </p:spPr>
      </p:sp>
      <p:sp>
        <p:nvSpPr>
          <p:cNvPr id="9" name="Text 7"/>
          <p:cNvSpPr/>
          <p:nvPr/>
        </p:nvSpPr>
        <p:spPr>
          <a:xfrm>
            <a:off x="685800" y="2971800"/>
            <a:ext cx="7772400" cy="155448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TOMORROW · THE GOSPEL THREAD</a:t>
            </a:r>
            <a:endParaRPr lang="en-US" sz="2200" dirty="0"/>
          </a:p>
        </p:txBody>
      </p:sp>
      <p:sp>
        <p:nvSpPr>
          <p:cNvPr id="5" name="Shape 3"/>
          <p:cNvSpPr/>
          <p:nvPr/>
        </p:nvSpPr>
        <p:spPr>
          <a:xfrm>
            <a:off x="457200" y="914400"/>
            <a:ext cx="4023360" cy="1463040"/>
          </a:xfrm>
          <a:prstGeom prst="roundRect">
            <a:avLst>
              <a:gd name="adj" fmla="val 3750"/>
            </a:avLst>
          </a:prstGeom>
          <a:solidFill>
            <a:srgbClr val="1D2B1F"/>
          </a:solidFill>
          <a:ln w="12700">
            <a:solidFill>
              <a:srgbClr val="B89442"/>
            </a:solidFill>
            <a:prstDash val="solid"/>
          </a:ln>
        </p:spPr>
      </p:sp>
      <p:sp>
        <p:nvSpPr>
          <p:cNvPr id="6" name="Text 4"/>
          <p:cNvSpPr/>
          <p:nvPr/>
        </p:nvSpPr>
        <p:spPr>
          <a:xfrm>
            <a:off x="59436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PROMISE OPENED
</a:t>
            </a:r>
            <a:pPr indent="0" marL="0">
              <a:buNone/>
            </a:pPr>
            <a:r>
              <a:rPr lang="en-US" sz="1000" dirty="0">
                <a:solidFill>
                  <a:srgbClr val="F0E6CC"/>
                </a:solidFill>
                <a:latin typeface="Calibri" pitchFamily="34" charset="0"/>
                <a:ea typeface="Calibri" pitchFamily="34" charset="-122"/>
                <a:cs typeface="Calibri" pitchFamily="34" charset="-120"/>
              </a:rPr>
              <a:t>Genesis does not stand alone. It is a thread in one tapestry, and the tapestry is Christ. What is begun here strains forward toward the One who fulfills it. [LINK: John 1:1-3]</a:t>
            </a:r>
            <a:endParaRPr lang="en-US" sz="1200" dirty="0"/>
          </a:p>
        </p:txBody>
      </p:sp>
      <p:sp>
        <p:nvSpPr>
          <p:cNvPr id="7" name="Shape 5"/>
          <p:cNvSpPr/>
          <p:nvPr/>
        </p:nvSpPr>
        <p:spPr>
          <a:xfrm>
            <a:off x="4663440" y="914400"/>
            <a:ext cx="4023360" cy="1463040"/>
          </a:xfrm>
          <a:prstGeom prst="roundRect">
            <a:avLst>
              <a:gd name="adj" fmla="val 3750"/>
            </a:avLst>
          </a:prstGeom>
          <a:solidFill>
            <a:srgbClr val="1D2B1F"/>
          </a:solidFill>
          <a:ln w="12700">
            <a:solidFill>
              <a:srgbClr val="B89442"/>
            </a:solidFill>
            <a:prstDash val="solid"/>
          </a:ln>
        </p:spPr>
      </p:sp>
      <p:sp>
        <p:nvSpPr>
          <p:cNvPr id="8" name="Text 6"/>
          <p:cNvSpPr/>
          <p:nvPr/>
        </p:nvSpPr>
        <p:spPr>
          <a:xfrm>
            <a:off x="480060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NEED EXPOSED
</a:t>
            </a:r>
            <a:pPr indent="0" marL="0">
              <a:buNone/>
            </a:pPr>
            <a:r>
              <a:rPr lang="en-US" sz="1000" dirty="0">
                <a:solidFill>
                  <a:srgbClr val="F0E6CC"/>
                </a:solidFill>
                <a:latin typeface="Calibri" pitchFamily="34" charset="0"/>
                <a:ea typeface="Calibri" pitchFamily="34" charset="-122"/>
                <a:cs typeface="Calibri" pitchFamily="34" charset="-120"/>
              </a:rPr>
              <a:t>This passage shows us a gap no human effort can close — between a holy God and an unholy people. That gap is the silhouette of a cross. The diagnosis here is precisely the wound the gospel heals.</a:t>
            </a:r>
            <a:endParaRPr lang="en-US" sz="1200" dirty="0"/>
          </a:p>
        </p:txBody>
      </p:sp>
      <p:sp>
        <p:nvSpPr>
          <p:cNvPr id="9" name="Shape 7"/>
          <p:cNvSpPr/>
          <p:nvPr/>
        </p:nvSpPr>
        <p:spPr>
          <a:xfrm>
            <a:off x="457200" y="2514600"/>
            <a:ext cx="4023360" cy="1463040"/>
          </a:xfrm>
          <a:prstGeom prst="roundRect">
            <a:avLst>
              <a:gd name="adj" fmla="val 3750"/>
            </a:avLst>
          </a:prstGeom>
          <a:solidFill>
            <a:srgbClr val="1D2B1F"/>
          </a:solidFill>
          <a:ln w="12700">
            <a:solidFill>
              <a:srgbClr val="B89442"/>
            </a:solidFill>
            <a:prstDash val="solid"/>
          </a:ln>
        </p:spPr>
      </p:sp>
      <p:sp>
        <p:nvSpPr>
          <p:cNvPr id="10" name="Text 8"/>
          <p:cNvSpPr/>
          <p:nvPr/>
        </p:nvSpPr>
        <p:spPr>
          <a:xfrm>
            <a:off x="59436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SHADOW AND THE SUBSTANCE
</a:t>
            </a:r>
            <a:pPr indent="0" marL="0">
              <a:buNone/>
            </a:pPr>
            <a:r>
              <a:rPr lang="en-US" sz="1000" dirty="0">
                <a:solidFill>
                  <a:srgbClr val="F0E6CC"/>
                </a:solidFill>
                <a:latin typeface="Calibri" pitchFamily="34" charset="0"/>
                <a:ea typeface="Calibri" pitchFamily="34" charset="-122"/>
                <a:cs typeface="Calibri" pitchFamily="34" charset="-120"/>
              </a:rPr>
              <a:t>Conservative scholars observe that the patterns here — covenant, sacrifice, kingship, deliverance — are shadows cast backward by Jesus. See the shadow, then look up and find the One casting it. [LINK: Romans 5:12-21]</a:t>
            </a:r>
            <a:endParaRPr lang="en-US" sz="1200" dirty="0"/>
          </a:p>
        </p:txBody>
      </p:sp>
      <p:sp>
        <p:nvSpPr>
          <p:cNvPr id="11" name="Shape 9"/>
          <p:cNvSpPr/>
          <p:nvPr/>
        </p:nvSpPr>
        <p:spPr>
          <a:xfrm>
            <a:off x="4663440" y="2514600"/>
            <a:ext cx="4023360" cy="1463040"/>
          </a:xfrm>
          <a:prstGeom prst="roundRect">
            <a:avLst>
              <a:gd name="adj" fmla="val 3750"/>
            </a:avLst>
          </a:prstGeom>
          <a:solidFill>
            <a:srgbClr val="1D2B1F"/>
          </a:solidFill>
          <a:ln w="12700">
            <a:solidFill>
              <a:srgbClr val="B89442"/>
            </a:solidFill>
            <a:prstDash val="solid"/>
          </a:ln>
        </p:spPr>
      </p:sp>
      <p:sp>
        <p:nvSpPr>
          <p:cNvPr id="12" name="Text 10"/>
          <p:cNvSpPr/>
          <p:nvPr/>
        </p:nvSpPr>
        <p:spPr>
          <a:xfrm>
            <a:off x="480060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SUMMIT
</a:t>
            </a:r>
            <a:pPr indent="0" marL="0">
              <a:buNone/>
            </a:pPr>
            <a:r>
              <a:rPr lang="en-US" sz="1000" dirty="0">
                <a:solidFill>
                  <a:srgbClr val="F0E6CC"/>
                </a:solidFill>
                <a:latin typeface="Calibri" pitchFamily="34" charset="0"/>
                <a:ea typeface="Calibri" pitchFamily="34" charset="-122"/>
                <a:cs typeface="Calibri" pitchFamily="34" charset="-120"/>
              </a:rPr>
              <a:t>Every trail leads to the same summit. Isaac &amp; Jacob lifts our eyes from history, through our own hearts, to the risen Christ who reigns now and is coming again. [LINK: Galatians 3:16]</a:t>
            </a:r>
            <a:endParaRPr lang="en-US" sz="1200" dirty="0"/>
          </a:p>
        </p:txBody>
      </p:sp>
      <p:sp>
        <p:nvSpPr>
          <p:cNvPr id="13" name="Text 11"/>
          <p:cNvSpPr/>
          <p:nvPr/>
        </p:nvSpPr>
        <p:spPr>
          <a:xfrm>
            <a:off x="457200" y="4251960"/>
            <a:ext cx="8229600" cy="365760"/>
          </a:xfrm>
          <a:prstGeom prst="rect">
            <a:avLst/>
          </a:prstGeom>
          <a:noFill/>
          <a:ln/>
        </p:spPr>
        <p:txBody>
          <a:bodyPr wrap="square" rtlCol="0" anchor="ctr"/>
          <a:lstStyle/>
          <a:p>
            <a:pPr indent="0" marL="0">
              <a:buNone/>
            </a:pPr>
            <a:r>
              <a:rPr lang="en-US" sz="900" i="1" dirty="0">
                <a:solidFill>
                  <a:srgbClr val="B89442"/>
                </a:solidFill>
                <a:latin typeface="Calibri" pitchFamily="34" charset="0"/>
                <a:ea typeface="Calibri" pitchFamily="34" charset="-122"/>
                <a:cs typeface="Calibri" pitchFamily="34" charset="-120"/>
              </a:rPr>
              <a:t>Cross-references: [LINK: John 1:1-3]  [LINK: Romans 5:12-21]  [LINK: Galatians 3:16]</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1800" b="1" spc="200" kern="0" dirty="0">
                <a:solidFill>
                  <a:srgbClr val="B89442"/>
                </a:solidFill>
                <a:latin typeface="Calibri" pitchFamily="34" charset="0"/>
                <a:ea typeface="Calibri" pitchFamily="34" charset="-122"/>
                <a:cs typeface="Calibri" pitchFamily="34" charset="-120"/>
              </a:rPr>
              <a:t>MEMORY VERSE</a:t>
            </a:r>
            <a:endParaRPr lang="en-US" sz="1800" dirty="0"/>
          </a:p>
        </p:txBody>
      </p:sp>
      <p:sp>
        <p:nvSpPr>
          <p:cNvPr id="5" name="Shape 3"/>
          <p:cNvSpPr/>
          <p:nvPr/>
        </p:nvSpPr>
        <p:spPr>
          <a:xfrm>
            <a:off x="457200" y="822960"/>
            <a:ext cx="8229600" cy="1828800"/>
          </a:xfrm>
          <a:prstGeom prst="roundRect">
            <a:avLst>
              <a:gd name="adj" fmla="val 3000"/>
            </a:avLst>
          </a:prstGeom>
          <a:solidFill>
            <a:srgbClr val="1D2B1F"/>
          </a:solidFill>
          <a:ln w="12700">
            <a:solidFill>
              <a:srgbClr val="B89442"/>
            </a:solidFill>
            <a:prstDash val="solid"/>
          </a:ln>
        </p:spPr>
      </p:sp>
      <p:sp>
        <p:nvSpPr>
          <p:cNvPr id="6" name="Text 4"/>
          <p:cNvSpPr/>
          <p:nvPr/>
        </p:nvSpPr>
        <p:spPr>
          <a:xfrm>
            <a:off x="731520" y="914400"/>
            <a:ext cx="7680960" cy="1371600"/>
          </a:xfrm>
          <a:prstGeom prst="rect">
            <a:avLst/>
          </a:prstGeom>
          <a:noFill/>
          <a:ln/>
        </p:spPr>
        <p:txBody>
          <a:bodyPr wrap="square" rtlCol="0" anchor="ctr"/>
          <a:lstStyle/>
          <a:p>
            <a:pPr algn="ctr" indent="0" marL="0">
              <a:buNone/>
            </a:pPr>
            <a:r>
              <a:rPr lang="en-US" sz="1800" i="1" dirty="0">
                <a:solidFill>
                  <a:srgbClr val="F0E6CC"/>
                </a:solidFill>
                <a:latin typeface="Georgia" pitchFamily="34" charset="0"/>
                <a:ea typeface="Georgia" pitchFamily="34" charset="-122"/>
                <a:cs typeface="Georgia" pitchFamily="34" charset="-120"/>
              </a:rPr>
              <a:t>"And I have oxen, and asses, flocks, and menservants, and womenservants: and I have sent to tell my lord, that I may find grace in thy sight."</a:t>
            </a:r>
            <a:endParaRPr lang="en-US" sz="1800" dirty="0"/>
          </a:p>
        </p:txBody>
      </p:sp>
      <p:sp>
        <p:nvSpPr>
          <p:cNvPr id="7" name="Text 5"/>
          <p:cNvSpPr/>
          <p:nvPr/>
        </p:nvSpPr>
        <p:spPr>
          <a:xfrm>
            <a:off x="731520" y="2240280"/>
            <a:ext cx="7680960" cy="320040"/>
          </a:xfrm>
          <a:prstGeom prst="rect">
            <a:avLst/>
          </a:prstGeom>
          <a:noFill/>
          <a:ln/>
        </p:spPr>
        <p:txBody>
          <a:bodyPr wrap="square" rtlCol="0" anchor="ctr"/>
          <a:lstStyle/>
          <a:p>
            <a:pPr algn="ctr" indent="0" marL="0">
              <a:buNone/>
            </a:pPr>
            <a:r>
              <a:rPr lang="en-US" sz="1300" b="1" dirty="0">
                <a:solidFill>
                  <a:srgbClr val="B89442"/>
                </a:solidFill>
                <a:latin typeface="Calibri" pitchFamily="34" charset="0"/>
                <a:ea typeface="Calibri" pitchFamily="34" charset="-122"/>
                <a:cs typeface="Calibri" pitchFamily="34" charset="-120"/>
              </a:rPr>
              <a:t>— Genesis 32:5</a:t>
            </a:r>
            <a:endParaRPr lang="en-US" sz="1300" dirty="0"/>
          </a:p>
        </p:txBody>
      </p:sp>
      <p:sp>
        <p:nvSpPr>
          <p:cNvPr id="8" name="Text 6"/>
          <p:cNvSpPr/>
          <p:nvPr/>
        </p:nvSpPr>
        <p:spPr>
          <a:xfrm>
            <a:off x="548640" y="2788920"/>
            <a:ext cx="8046720" cy="1737360"/>
          </a:xfrm>
          <a:prstGeom prst="rect">
            <a:avLst/>
          </a:prstGeom>
          <a:noFill/>
          <a:ln/>
        </p:spPr>
        <p:txBody>
          <a:bodyPr wrap="square" rtlCol="0" anchor="t"/>
          <a:lstStyle/>
          <a:p>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THEN: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Moses delivered Isaac &amp; Jacob to the redeemed nation of Israel at the edge of the Promised Land around c. 1446-1406 BC.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TODAY: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It exposes our hearts and calls us off the beach into real repentance and trust.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TOMORROW: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And it points, like every passage, straight to the risen Christ.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NetPraise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Isaac &amp; Jacob</dc:title>
  <dc:subject>Genesis 31:1-36:43</dc:subject>
  <dc:creator>Jim Yarborough — The Continent of God · NetPraise</dc:creator>
  <cp:lastModifiedBy>Jim Yarborough — The Continent of God · NetPraise</cp:lastModifiedBy>
  <cp:revision>1</cp:revision>
  <dcterms:created xsi:type="dcterms:W3CDTF">2026-05-27T16:12:51Z</dcterms:created>
  <dcterms:modified xsi:type="dcterms:W3CDTF">2026-05-27T16:12:51Z</dcterms:modified>
</cp:coreProperties>
</file>